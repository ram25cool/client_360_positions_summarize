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Telegraf" panose="020B0604020202020204" charset="0"/>
      <p:regular r:id="rId15"/>
    </p:embeddedFont>
    <p:embeddedFont>
      <p:font typeface="Telegraf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7" d="100"/>
          <a:sy n="47" d="100"/>
        </p:scale>
        <p:origin x="500"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3238500" cy="10287000"/>
            <a:chOff x="0" y="0"/>
            <a:chExt cx="852938" cy="2709333"/>
          </a:xfrm>
        </p:grpSpPr>
        <p:sp>
          <p:nvSpPr>
            <p:cNvPr id="3" name="Freeform 3"/>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007D75"/>
            </a:solidFill>
          </p:spPr>
        </p:sp>
        <p:sp>
          <p:nvSpPr>
            <p:cNvPr id="4" name="TextBox 4"/>
            <p:cNvSpPr txBox="1"/>
            <p:nvPr/>
          </p:nvSpPr>
          <p:spPr>
            <a:xfrm>
              <a:off x="0" y="-76200"/>
              <a:ext cx="852938" cy="2785533"/>
            </a:xfrm>
            <a:prstGeom prst="rect">
              <a:avLst/>
            </a:prstGeom>
          </p:spPr>
          <p:txBody>
            <a:bodyPr lIns="50800" tIns="50800" rIns="50800" bIns="50800" rtlCol="0" anchor="ctr"/>
            <a:lstStyle/>
            <a:p>
              <a:pPr marL="0" lvl="0" indent="0" algn="ctr">
                <a:lnSpc>
                  <a:spcPts val="2800"/>
                </a:lnSpc>
              </a:pPr>
              <a:endParaRPr/>
            </a:p>
          </p:txBody>
        </p:sp>
      </p:grpSp>
      <p:grpSp>
        <p:nvGrpSpPr>
          <p:cNvPr id="5" name="Group 5"/>
          <p:cNvGrpSpPr/>
          <p:nvPr/>
        </p:nvGrpSpPr>
        <p:grpSpPr>
          <a:xfrm>
            <a:off x="666750" y="666750"/>
            <a:ext cx="7191375" cy="8953500"/>
            <a:chOff x="0" y="0"/>
            <a:chExt cx="928643" cy="1156192"/>
          </a:xfrm>
        </p:grpSpPr>
        <p:sp>
          <p:nvSpPr>
            <p:cNvPr id="6" name="Freeform 6"/>
            <p:cNvSpPr/>
            <p:nvPr/>
          </p:nvSpPr>
          <p:spPr>
            <a:xfrm>
              <a:off x="0" y="0"/>
              <a:ext cx="928643" cy="1156192"/>
            </a:xfrm>
            <a:custGeom>
              <a:avLst/>
              <a:gdLst/>
              <a:ahLst/>
              <a:cxnLst/>
              <a:rect l="l" t="t" r="r" b="b"/>
              <a:pathLst>
                <a:path w="928643" h="1156192">
                  <a:moveTo>
                    <a:pt x="37679" y="0"/>
                  </a:moveTo>
                  <a:lnTo>
                    <a:pt x="890964" y="0"/>
                  </a:lnTo>
                  <a:cubicBezTo>
                    <a:pt x="900957" y="0"/>
                    <a:pt x="910541" y="3970"/>
                    <a:pt x="917607" y="11036"/>
                  </a:cubicBezTo>
                  <a:cubicBezTo>
                    <a:pt x="924673" y="18102"/>
                    <a:pt x="928643" y="27686"/>
                    <a:pt x="928643" y="37679"/>
                  </a:cubicBezTo>
                  <a:lnTo>
                    <a:pt x="928643" y="1118512"/>
                  </a:lnTo>
                  <a:cubicBezTo>
                    <a:pt x="928643" y="1139322"/>
                    <a:pt x="911774" y="1156192"/>
                    <a:pt x="890964" y="1156192"/>
                  </a:cubicBezTo>
                  <a:lnTo>
                    <a:pt x="37679" y="1156192"/>
                  </a:lnTo>
                  <a:cubicBezTo>
                    <a:pt x="16870" y="1156192"/>
                    <a:pt x="0" y="1139322"/>
                    <a:pt x="0" y="1118512"/>
                  </a:cubicBezTo>
                  <a:lnTo>
                    <a:pt x="0" y="37679"/>
                  </a:lnTo>
                  <a:cubicBezTo>
                    <a:pt x="0" y="16870"/>
                    <a:pt x="16870" y="0"/>
                    <a:pt x="37679" y="0"/>
                  </a:cubicBezTo>
                  <a:close/>
                </a:path>
              </a:pathLst>
            </a:custGeom>
            <a:blipFill>
              <a:blip r:embed="rId2"/>
              <a:stretch>
                <a:fillRect t="-199" b="-199"/>
              </a:stretch>
            </a:blipFill>
            <a:ln cap="rnd">
              <a:noFill/>
              <a:prstDash val="solid"/>
              <a:round/>
            </a:ln>
          </p:spPr>
        </p:sp>
      </p:grpSp>
      <p:grpSp>
        <p:nvGrpSpPr>
          <p:cNvPr id="7" name="Group 7"/>
          <p:cNvGrpSpPr/>
          <p:nvPr/>
        </p:nvGrpSpPr>
        <p:grpSpPr>
          <a:xfrm>
            <a:off x="9296400" y="666750"/>
            <a:ext cx="8324850" cy="4781550"/>
            <a:chOff x="0" y="0"/>
            <a:chExt cx="11099800" cy="6375400"/>
          </a:xfrm>
        </p:grpSpPr>
        <p:sp>
          <p:nvSpPr>
            <p:cNvPr id="8" name="TextBox 8"/>
            <p:cNvSpPr txBox="1"/>
            <p:nvPr/>
          </p:nvSpPr>
          <p:spPr>
            <a:xfrm>
              <a:off x="0" y="1174750"/>
              <a:ext cx="11099800" cy="5200650"/>
            </a:xfrm>
            <a:prstGeom prst="rect">
              <a:avLst/>
            </a:prstGeom>
          </p:spPr>
          <p:txBody>
            <a:bodyPr lIns="0" tIns="0" rIns="0" bIns="0" rtlCol="0" anchor="t">
              <a:spAutoFit/>
            </a:bodyPr>
            <a:lstStyle/>
            <a:p>
              <a:pPr marL="0" lvl="0" indent="0" algn="l">
                <a:lnSpc>
                  <a:spcPts val="9900"/>
                </a:lnSpc>
              </a:pPr>
              <a:r>
                <a:rPr lang="en-US" sz="9000" b="1" spc="-89">
                  <a:solidFill>
                    <a:srgbClr val="004B40"/>
                  </a:solidFill>
                  <a:latin typeface="Telegraf Bold"/>
                  <a:ea typeface="Telegraf Bold"/>
                  <a:cs typeface="Telegraf Bold"/>
                  <a:sym typeface="Telegraf Bold"/>
                </a:rPr>
                <a:t>AI/ML Driven 360° Client Intelligence</a:t>
              </a:r>
            </a:p>
          </p:txBody>
        </p:sp>
        <p:sp>
          <p:nvSpPr>
            <p:cNvPr id="9" name="TextBox 9"/>
            <p:cNvSpPr txBox="1"/>
            <p:nvPr/>
          </p:nvSpPr>
          <p:spPr>
            <a:xfrm>
              <a:off x="0" y="-9525"/>
              <a:ext cx="11099800" cy="606425"/>
            </a:xfrm>
            <a:prstGeom prst="rect">
              <a:avLst/>
            </a:prstGeom>
          </p:spPr>
          <p:txBody>
            <a:bodyPr lIns="0" tIns="0" rIns="0" bIns="0" rtlCol="0" anchor="t">
              <a:spAutoFit/>
            </a:bodyPr>
            <a:lstStyle/>
            <a:p>
              <a:pPr marL="0" lvl="0" indent="0" algn="l">
                <a:lnSpc>
                  <a:spcPts val="3299"/>
                </a:lnSpc>
              </a:pPr>
              <a:r>
                <a:rPr lang="en-US" sz="2999" b="1" spc="-29">
                  <a:solidFill>
                    <a:srgbClr val="007D75"/>
                  </a:solidFill>
                  <a:latin typeface="Telegraf Bold"/>
                  <a:ea typeface="Telegraf Bold"/>
                  <a:cs typeface="Telegraf Bold"/>
                  <a:sym typeface="Telegraf Bold"/>
                </a:rPr>
                <a:t>AI &amp; ML Presentation</a:t>
              </a:r>
            </a:p>
          </p:txBody>
        </p:sp>
      </p:grpSp>
      <p:sp>
        <p:nvSpPr>
          <p:cNvPr id="10" name="TextBox 10"/>
          <p:cNvSpPr txBox="1"/>
          <p:nvPr/>
        </p:nvSpPr>
        <p:spPr>
          <a:xfrm>
            <a:off x="9296400" y="9144000"/>
            <a:ext cx="8324850" cy="476250"/>
          </a:xfrm>
          <a:prstGeom prst="rect">
            <a:avLst/>
          </a:prstGeom>
        </p:spPr>
        <p:txBody>
          <a:bodyPr lIns="0" tIns="0" rIns="0" bIns="0" rtlCol="0" anchor="t">
            <a:spAutoFit/>
          </a:bodyPr>
          <a:lstStyle/>
          <a:p>
            <a:pPr marL="0" lvl="0" indent="0" algn="l">
              <a:lnSpc>
                <a:spcPts val="3300"/>
              </a:lnSpc>
            </a:pPr>
            <a:r>
              <a:rPr lang="en-US" sz="3000" spc="-30">
                <a:solidFill>
                  <a:srgbClr val="274C4B"/>
                </a:solidFill>
                <a:latin typeface="Telegraf"/>
                <a:ea typeface="Telegraf"/>
                <a:cs typeface="Telegraf"/>
                <a:sym typeface="Telegraf"/>
              </a:rPr>
              <a:t>Presented by [Presenter Name Here]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6750" y="683081"/>
            <a:ext cx="12639675" cy="1774349"/>
            <a:chOff x="0" y="0"/>
            <a:chExt cx="16852900" cy="2365799"/>
          </a:xfrm>
        </p:grpSpPr>
        <p:sp>
          <p:nvSpPr>
            <p:cNvPr id="3" name="TextBox 3"/>
            <p:cNvSpPr txBox="1"/>
            <p:nvPr/>
          </p:nvSpPr>
          <p:spPr>
            <a:xfrm>
              <a:off x="0" y="-19050"/>
              <a:ext cx="16852900" cy="1432984"/>
            </a:xfrm>
            <a:prstGeom prst="rect">
              <a:avLst/>
            </a:prstGeom>
          </p:spPr>
          <p:txBody>
            <a:bodyPr lIns="0" tIns="0" rIns="0" bIns="0" rtlCol="0" anchor="t">
              <a:spAutoFit/>
            </a:bodyPr>
            <a:lstStyle/>
            <a:p>
              <a:pPr marL="0" lvl="0" indent="0" algn="l">
                <a:lnSpc>
                  <a:spcPts val="7700"/>
                </a:lnSpc>
              </a:pPr>
              <a:r>
                <a:rPr lang="en-US" sz="7000" b="1" spc="-70">
                  <a:solidFill>
                    <a:srgbClr val="004B40"/>
                  </a:solidFill>
                  <a:latin typeface="Telegraf Bold"/>
                  <a:ea typeface="Telegraf Bold"/>
                  <a:cs typeface="Telegraf Bold"/>
                  <a:sym typeface="Telegraf Bold"/>
                </a:rPr>
                <a:t>Vision &amp; Objective</a:t>
              </a:r>
            </a:p>
          </p:txBody>
        </p:sp>
        <p:sp>
          <p:nvSpPr>
            <p:cNvPr id="4" name="TextBox 4"/>
            <p:cNvSpPr txBox="1"/>
            <p:nvPr/>
          </p:nvSpPr>
          <p:spPr>
            <a:xfrm>
              <a:off x="0" y="1760009"/>
              <a:ext cx="16852900" cy="605790"/>
            </a:xfrm>
            <a:prstGeom prst="rect">
              <a:avLst/>
            </a:prstGeom>
          </p:spPr>
          <p:txBody>
            <a:bodyPr lIns="0" tIns="0" rIns="0" bIns="0" rtlCol="0" anchor="t">
              <a:spAutoFit/>
            </a:bodyPr>
            <a:lstStyle/>
            <a:p>
              <a:pPr marL="0" lvl="0" indent="0" algn="l">
                <a:lnSpc>
                  <a:spcPts val="3258"/>
                </a:lnSpc>
              </a:pPr>
              <a:r>
                <a:rPr lang="en-US" sz="2962" b="1" spc="-29">
                  <a:solidFill>
                    <a:srgbClr val="007D75"/>
                  </a:solidFill>
                  <a:latin typeface="Telegraf Bold"/>
                  <a:ea typeface="Telegraf Bold"/>
                  <a:cs typeface="Telegraf Bold"/>
                  <a:sym typeface="Telegraf Bold"/>
                </a:rPr>
                <a:t>Empowering Auditors with AI Insights</a:t>
              </a:r>
            </a:p>
          </p:txBody>
        </p:sp>
      </p:grpSp>
      <p:grpSp>
        <p:nvGrpSpPr>
          <p:cNvPr id="5" name="Group 5"/>
          <p:cNvGrpSpPr/>
          <p:nvPr/>
        </p:nvGrpSpPr>
        <p:grpSpPr>
          <a:xfrm>
            <a:off x="15049500" y="0"/>
            <a:ext cx="3238500" cy="10287000"/>
            <a:chOff x="0" y="0"/>
            <a:chExt cx="852938" cy="2709333"/>
          </a:xfrm>
        </p:grpSpPr>
        <p:sp>
          <p:nvSpPr>
            <p:cNvPr id="6" name="Freeform 6"/>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6AD1C5"/>
            </a:solidFill>
          </p:spPr>
        </p:sp>
        <p:sp>
          <p:nvSpPr>
            <p:cNvPr id="7" name="TextBox 7"/>
            <p:cNvSpPr txBox="1"/>
            <p:nvPr/>
          </p:nvSpPr>
          <p:spPr>
            <a:xfrm>
              <a:off x="0" y="-76200"/>
              <a:ext cx="852938" cy="2785533"/>
            </a:xfrm>
            <a:prstGeom prst="rect">
              <a:avLst/>
            </a:prstGeom>
          </p:spPr>
          <p:txBody>
            <a:bodyPr lIns="50800" tIns="50800" rIns="50800" bIns="50800" rtlCol="0" anchor="ctr"/>
            <a:lstStyle/>
            <a:p>
              <a:pPr marL="0" lvl="0" indent="0" algn="ctr">
                <a:lnSpc>
                  <a:spcPts val="2800"/>
                </a:lnSpc>
              </a:pPr>
              <a:endParaRPr/>
            </a:p>
          </p:txBody>
        </p:sp>
      </p:grpSp>
      <p:sp>
        <p:nvSpPr>
          <p:cNvPr id="8" name="AutoShape 8"/>
          <p:cNvSpPr/>
          <p:nvPr/>
        </p:nvSpPr>
        <p:spPr>
          <a:xfrm>
            <a:off x="666750" y="9620250"/>
            <a:ext cx="16954500" cy="0"/>
          </a:xfrm>
          <a:prstGeom prst="line">
            <a:avLst/>
          </a:prstGeom>
          <a:ln w="9525" cap="flat">
            <a:solidFill>
              <a:srgbClr val="004B40"/>
            </a:solidFill>
            <a:prstDash val="solid"/>
            <a:headEnd type="none" w="sm" len="sm"/>
            <a:tailEnd type="none" w="sm" len="sm"/>
          </a:ln>
        </p:spPr>
      </p:sp>
      <p:sp>
        <p:nvSpPr>
          <p:cNvPr id="9" name="TextBox 9"/>
          <p:cNvSpPr txBox="1"/>
          <p:nvPr/>
        </p:nvSpPr>
        <p:spPr>
          <a:xfrm>
            <a:off x="666750" y="9676455"/>
            <a:ext cx="2571750" cy="217170"/>
          </a:xfrm>
          <a:prstGeom prst="rect">
            <a:avLst/>
          </a:prstGeom>
        </p:spPr>
        <p:txBody>
          <a:bodyPr lIns="0" tIns="0" rIns="0" bIns="0" rtlCol="0" anchor="t">
            <a:spAutoFit/>
          </a:bodyPr>
          <a:lstStyle/>
          <a:p>
            <a:pPr marL="0" lvl="0" indent="0" algn="l">
              <a:lnSpc>
                <a:spcPts val="1679"/>
              </a:lnSpc>
              <a:spcBef>
                <a:spcPct val="0"/>
              </a:spcBef>
            </a:pPr>
            <a:r>
              <a:rPr lang="en-US" sz="1200" b="1" spc="-12">
                <a:solidFill>
                  <a:srgbClr val="274C4B"/>
                </a:solidFill>
                <a:latin typeface="Telegraf Bold"/>
                <a:ea typeface="Telegraf Bold"/>
                <a:cs typeface="Telegraf Bold"/>
                <a:sym typeface="Telegraf Bold"/>
              </a:rPr>
              <a:t>CONFIDENTIAL INFORMATION</a:t>
            </a:r>
          </a:p>
        </p:txBody>
      </p:sp>
      <p:sp>
        <p:nvSpPr>
          <p:cNvPr id="10" name="TextBox 10"/>
          <p:cNvSpPr txBox="1"/>
          <p:nvPr/>
        </p:nvSpPr>
        <p:spPr>
          <a:xfrm>
            <a:off x="17406193" y="9676442"/>
            <a:ext cx="152400" cy="190500"/>
          </a:xfrm>
          <a:prstGeom prst="rect">
            <a:avLst/>
          </a:prstGeom>
        </p:spPr>
        <p:txBody>
          <a:bodyPr wrap="none" lIns="0" tIns="0" rIns="0" bIns="0" rtlCol="0" anchor="t">
            <a:spAutoFit/>
          </a:bodyPr>
          <a:lstStyle/>
          <a:p>
            <a:pPr marL="0" lvl="0" indent="0" algn="r">
              <a:lnSpc>
                <a:spcPts val="1679"/>
              </a:lnSpc>
              <a:spcBef>
                <a:spcPct val="0"/>
              </a:spcBef>
            </a:pPr>
            <a:r>
              <a:rPr lang="en-US" sz="1200" b="1">
                <a:solidFill>
                  <a:srgbClr val="274C4B"/>
                </a:solidFill>
                <a:latin typeface="Telegraf Bold"/>
                <a:ea typeface="Telegraf Bold"/>
                <a:cs typeface="Telegraf Bold"/>
                <a:sym typeface="Telegraf Bold"/>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6750" y="666750"/>
            <a:ext cx="6886575" cy="3828692"/>
            <a:chOff x="0" y="0"/>
            <a:chExt cx="9182100" cy="5104923"/>
          </a:xfrm>
        </p:grpSpPr>
        <p:sp>
          <p:nvSpPr>
            <p:cNvPr id="3" name="TextBox 3"/>
            <p:cNvSpPr txBox="1"/>
            <p:nvPr/>
          </p:nvSpPr>
          <p:spPr>
            <a:xfrm>
              <a:off x="0" y="-9525"/>
              <a:ext cx="9182100" cy="4014258"/>
            </a:xfrm>
            <a:prstGeom prst="rect">
              <a:avLst/>
            </a:prstGeom>
          </p:spPr>
          <p:txBody>
            <a:bodyPr lIns="0" tIns="0" rIns="0" bIns="0" rtlCol="0" anchor="t">
              <a:spAutoFit/>
            </a:bodyPr>
            <a:lstStyle/>
            <a:p>
              <a:pPr marL="0" lvl="0" indent="0" algn="l">
                <a:lnSpc>
                  <a:spcPts val="7699"/>
                </a:lnSpc>
              </a:pPr>
              <a:r>
                <a:rPr lang="en-US" sz="6999" b="1" spc="-69">
                  <a:solidFill>
                    <a:srgbClr val="004B40"/>
                  </a:solidFill>
                  <a:latin typeface="Telegraf Bold"/>
                  <a:ea typeface="Telegraf Bold"/>
                  <a:cs typeface="Telegraf Bold"/>
                  <a:sym typeface="Telegraf Bold"/>
                </a:rPr>
                <a:t>Machine Learning Use Cases</a:t>
              </a:r>
            </a:p>
          </p:txBody>
        </p:sp>
        <p:sp>
          <p:nvSpPr>
            <p:cNvPr id="4" name="TextBox 4"/>
            <p:cNvSpPr txBox="1"/>
            <p:nvPr/>
          </p:nvSpPr>
          <p:spPr>
            <a:xfrm>
              <a:off x="0" y="4476273"/>
              <a:ext cx="9182100" cy="628650"/>
            </a:xfrm>
            <a:prstGeom prst="rect">
              <a:avLst/>
            </a:prstGeom>
          </p:spPr>
          <p:txBody>
            <a:bodyPr lIns="0" tIns="0" rIns="0" bIns="0" rtlCol="0" anchor="t">
              <a:spAutoFit/>
            </a:bodyPr>
            <a:lstStyle/>
            <a:p>
              <a:pPr marL="0" lvl="0" indent="0" algn="l">
                <a:lnSpc>
                  <a:spcPts val="3300"/>
                </a:lnSpc>
              </a:pPr>
              <a:r>
                <a:rPr lang="en-US" sz="3000" b="1" spc="-30">
                  <a:solidFill>
                    <a:srgbClr val="007D75"/>
                  </a:solidFill>
                  <a:latin typeface="Telegraf Bold"/>
                  <a:ea typeface="Telegraf Bold"/>
                  <a:cs typeface="Telegraf Bold"/>
                  <a:sym typeface="Telegraf Bold"/>
                </a:rPr>
                <a:t>Key initiatives for enhanced auditing</a:t>
              </a:r>
            </a:p>
          </p:txBody>
        </p:sp>
      </p:grpSp>
      <p:sp>
        <p:nvSpPr>
          <p:cNvPr id="5" name="TextBox 5"/>
          <p:cNvSpPr txBox="1"/>
          <p:nvPr/>
        </p:nvSpPr>
        <p:spPr>
          <a:xfrm>
            <a:off x="9296400" y="590550"/>
            <a:ext cx="8324850" cy="6369050"/>
          </a:xfrm>
          <a:prstGeom prst="rect">
            <a:avLst/>
          </a:prstGeom>
        </p:spPr>
        <p:txBody>
          <a:bodyPr lIns="0" tIns="0" rIns="0" bIns="0" rtlCol="0" anchor="t">
            <a:spAutoFit/>
          </a:bodyPr>
          <a:lstStyle/>
          <a:p>
            <a:pPr marL="0" lvl="0" indent="0" algn="l">
              <a:lnSpc>
                <a:spcPts val="2800"/>
              </a:lnSpc>
            </a:pPr>
            <a:r>
              <a:rPr lang="en-US" sz="2000" spc="-20">
                <a:solidFill>
                  <a:srgbClr val="274C4B"/>
                </a:solidFill>
                <a:latin typeface="Telegraf"/>
                <a:ea typeface="Telegraf"/>
                <a:cs typeface="Telegraf"/>
                <a:sym typeface="Telegraf"/>
              </a:rPr>
              <a:t>The implementation of Machine Learning (ML) in auditing presents several </a:t>
            </a:r>
            <a:r>
              <a:rPr lang="en-US" sz="2000" b="1" spc="-20">
                <a:solidFill>
                  <a:srgbClr val="274C4B"/>
                </a:solidFill>
                <a:latin typeface="Telegraf Bold"/>
                <a:ea typeface="Telegraf Bold"/>
                <a:cs typeface="Telegraf Bold"/>
                <a:sym typeface="Telegraf Bold"/>
              </a:rPr>
              <a:t>key initiatives</a:t>
            </a:r>
            <a:r>
              <a:rPr lang="en-US" sz="2000" spc="-20">
                <a:solidFill>
                  <a:srgbClr val="274C4B"/>
                </a:solidFill>
                <a:latin typeface="Telegraf"/>
                <a:ea typeface="Telegraf"/>
                <a:cs typeface="Telegraf"/>
                <a:sym typeface="Telegraf"/>
              </a:rPr>
              <a:t> that transform traditional practices into more effective and proactive approaches.</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Exposure &amp; Collateral Risk Segmentation</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Anomaly Detection &amp; Early Warning</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Predictive Credit Risk Scoring</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Time-Series Forecasting</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Collateral Valuation Drift</a:t>
            </a:r>
          </a:p>
          <a:p>
            <a:pPr marL="0" lvl="0" indent="0" algn="l">
              <a:lnSpc>
                <a:spcPts val="2800"/>
              </a:lnSpc>
            </a:pPr>
            <a:r>
              <a:rPr lang="en-US" sz="2000" spc="-20">
                <a:solidFill>
                  <a:srgbClr val="274C4B"/>
                </a:solidFill>
                <a:latin typeface="Telegraf"/>
                <a:ea typeface="Telegraf"/>
                <a:cs typeface="Telegraf"/>
                <a:sym typeface="Telegraf"/>
              </a:rPr>
              <a:t>These initiatives focus on leveraging historical data to enhance risk management capabilities. For instance, anomaly detection allows for early identification of irregular patterns that may indicate potential risks. Predictive credit risk scoring aids auditors in assessing the likelihood of default, thereby facilitating informed decision-making. Additionally, time-series forecasting provides insights into future trends based on past behaviors, and collateral valuation drift enhances the accuracy of asset assessments over time. Collectively, these ML applications empower auditors with advanced tools for improved accuracy, efficiency, and insight in their processes.</a:t>
            </a:r>
          </a:p>
        </p:txBody>
      </p:sp>
      <p:sp>
        <p:nvSpPr>
          <p:cNvPr id="6" name="AutoShape 6"/>
          <p:cNvSpPr/>
          <p:nvPr/>
        </p:nvSpPr>
        <p:spPr>
          <a:xfrm>
            <a:off x="666750" y="9620250"/>
            <a:ext cx="16954500" cy="0"/>
          </a:xfrm>
          <a:prstGeom prst="line">
            <a:avLst/>
          </a:prstGeom>
          <a:ln w="9525" cap="flat">
            <a:solidFill>
              <a:srgbClr val="004B40"/>
            </a:solidFill>
            <a:prstDash val="solid"/>
            <a:headEnd type="none" w="sm" len="sm"/>
            <a:tailEnd type="none" w="sm" len="sm"/>
          </a:ln>
        </p:spPr>
      </p:sp>
      <p:sp>
        <p:nvSpPr>
          <p:cNvPr id="7" name="TextBox 7"/>
          <p:cNvSpPr txBox="1"/>
          <p:nvPr/>
        </p:nvSpPr>
        <p:spPr>
          <a:xfrm>
            <a:off x="666750" y="9676455"/>
            <a:ext cx="2571750" cy="217170"/>
          </a:xfrm>
          <a:prstGeom prst="rect">
            <a:avLst/>
          </a:prstGeom>
        </p:spPr>
        <p:txBody>
          <a:bodyPr lIns="0" tIns="0" rIns="0" bIns="0" rtlCol="0" anchor="t">
            <a:spAutoFit/>
          </a:bodyPr>
          <a:lstStyle/>
          <a:p>
            <a:pPr marL="0" lvl="0" indent="0" algn="l">
              <a:lnSpc>
                <a:spcPts val="1679"/>
              </a:lnSpc>
              <a:spcBef>
                <a:spcPct val="0"/>
              </a:spcBef>
            </a:pPr>
            <a:r>
              <a:rPr lang="en-US" sz="1200" b="1" spc="-12">
                <a:solidFill>
                  <a:srgbClr val="274C4B"/>
                </a:solidFill>
                <a:latin typeface="Telegraf Bold"/>
                <a:ea typeface="Telegraf Bold"/>
                <a:cs typeface="Telegraf Bold"/>
                <a:sym typeface="Telegraf Bold"/>
              </a:rPr>
              <a:t>SUMMARY OF USE CASES</a:t>
            </a:r>
          </a:p>
        </p:txBody>
      </p:sp>
      <p:sp>
        <p:nvSpPr>
          <p:cNvPr id="8" name="TextBox 8"/>
          <p:cNvSpPr txBox="1"/>
          <p:nvPr/>
        </p:nvSpPr>
        <p:spPr>
          <a:xfrm>
            <a:off x="17415597" y="9676442"/>
            <a:ext cx="152400" cy="190500"/>
          </a:xfrm>
          <a:prstGeom prst="rect">
            <a:avLst/>
          </a:prstGeom>
        </p:spPr>
        <p:txBody>
          <a:bodyPr wrap="none" lIns="0" tIns="0" rIns="0" bIns="0" rtlCol="0" anchor="t">
            <a:spAutoFit/>
          </a:bodyPr>
          <a:lstStyle/>
          <a:p>
            <a:pPr marL="0" lvl="0" indent="0" algn="r">
              <a:lnSpc>
                <a:spcPts val="1679"/>
              </a:lnSpc>
              <a:spcBef>
                <a:spcPct val="0"/>
              </a:spcBef>
            </a:pPr>
            <a:r>
              <a:rPr lang="en-US" sz="1200" b="1">
                <a:solidFill>
                  <a:srgbClr val="274C4B"/>
                </a:solidFill>
                <a:latin typeface="Telegraf Bold"/>
                <a:ea typeface="Telegraf Bold"/>
                <a:cs typeface="Telegraf Bold"/>
                <a:sym typeface="Telegraf Bold"/>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6750" y="666750"/>
            <a:ext cx="6886575" cy="3828692"/>
            <a:chOff x="0" y="0"/>
            <a:chExt cx="9182100" cy="5104923"/>
          </a:xfrm>
        </p:grpSpPr>
        <p:sp>
          <p:nvSpPr>
            <p:cNvPr id="3" name="TextBox 3"/>
            <p:cNvSpPr txBox="1"/>
            <p:nvPr/>
          </p:nvSpPr>
          <p:spPr>
            <a:xfrm>
              <a:off x="0" y="-9525"/>
              <a:ext cx="9182100" cy="4014258"/>
            </a:xfrm>
            <a:prstGeom prst="rect">
              <a:avLst/>
            </a:prstGeom>
          </p:spPr>
          <p:txBody>
            <a:bodyPr lIns="0" tIns="0" rIns="0" bIns="0" rtlCol="0" anchor="t">
              <a:spAutoFit/>
            </a:bodyPr>
            <a:lstStyle/>
            <a:p>
              <a:pPr marL="0" lvl="0" indent="0" algn="l">
                <a:lnSpc>
                  <a:spcPts val="7699"/>
                </a:lnSpc>
              </a:pPr>
              <a:r>
                <a:rPr lang="en-US" sz="6999" b="1" spc="-69">
                  <a:solidFill>
                    <a:srgbClr val="004B40"/>
                  </a:solidFill>
                  <a:latin typeface="Telegraf Bold"/>
                  <a:ea typeface="Telegraf Bold"/>
                  <a:cs typeface="Telegraf Bold"/>
                  <a:sym typeface="Telegraf Bold"/>
                </a:rPr>
                <a:t>Artificial Intelligence Use Cases</a:t>
              </a:r>
            </a:p>
          </p:txBody>
        </p:sp>
        <p:sp>
          <p:nvSpPr>
            <p:cNvPr id="4" name="TextBox 4"/>
            <p:cNvSpPr txBox="1"/>
            <p:nvPr/>
          </p:nvSpPr>
          <p:spPr>
            <a:xfrm>
              <a:off x="0" y="4476273"/>
              <a:ext cx="9182100" cy="628650"/>
            </a:xfrm>
            <a:prstGeom prst="rect">
              <a:avLst/>
            </a:prstGeom>
          </p:spPr>
          <p:txBody>
            <a:bodyPr lIns="0" tIns="0" rIns="0" bIns="0" rtlCol="0" anchor="t">
              <a:spAutoFit/>
            </a:bodyPr>
            <a:lstStyle/>
            <a:p>
              <a:pPr marL="0" lvl="0" indent="0" algn="l">
                <a:lnSpc>
                  <a:spcPts val="3300"/>
                </a:lnSpc>
              </a:pPr>
              <a:r>
                <a:rPr lang="en-US" sz="3000" b="1" spc="-30">
                  <a:solidFill>
                    <a:srgbClr val="007D75"/>
                  </a:solidFill>
                  <a:latin typeface="Telegraf Bold"/>
                  <a:ea typeface="Telegraf Bold"/>
                  <a:cs typeface="Telegraf Bold"/>
                  <a:sym typeface="Telegraf Bold"/>
                </a:rPr>
                <a:t>Enhancing Audit Processes with LLM</a:t>
              </a:r>
            </a:p>
          </p:txBody>
        </p:sp>
      </p:grpSp>
      <p:sp>
        <p:nvSpPr>
          <p:cNvPr id="5" name="TextBox 5"/>
          <p:cNvSpPr txBox="1"/>
          <p:nvPr/>
        </p:nvSpPr>
        <p:spPr>
          <a:xfrm>
            <a:off x="9296400" y="590550"/>
            <a:ext cx="8324850" cy="6016625"/>
          </a:xfrm>
          <a:prstGeom prst="rect">
            <a:avLst/>
          </a:prstGeom>
        </p:spPr>
        <p:txBody>
          <a:bodyPr lIns="0" tIns="0" rIns="0" bIns="0" rtlCol="0" anchor="t">
            <a:spAutoFit/>
          </a:bodyPr>
          <a:lstStyle/>
          <a:p>
            <a:pPr marL="0" lvl="0" indent="0" algn="l">
              <a:lnSpc>
                <a:spcPts val="2800"/>
              </a:lnSpc>
            </a:pPr>
            <a:r>
              <a:rPr lang="en-US" sz="2000" spc="-20">
                <a:solidFill>
                  <a:srgbClr val="274C4B"/>
                </a:solidFill>
                <a:latin typeface="Telegraf"/>
                <a:ea typeface="Telegraf"/>
                <a:cs typeface="Telegraf"/>
                <a:sym typeface="Telegraf"/>
              </a:rPr>
              <a:t>The integration of Artificial Intelligence (AI) through Large Language Models (LLM) offers transformative opportunities in audit practices. Key use cases include:</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Conversational Audit Assistant:</a:t>
            </a:r>
            <a:r>
              <a:rPr lang="en-US" sz="2000" spc="-20">
                <a:solidFill>
                  <a:srgbClr val="274C4B"/>
                </a:solidFill>
                <a:latin typeface="Telegraf"/>
                <a:ea typeface="Telegraf"/>
                <a:cs typeface="Telegraf"/>
                <a:sym typeface="Telegraf"/>
              </a:rPr>
              <a:t> Provides real-time support and answers during audits.</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Automated Report Generation:</a:t>
            </a:r>
            <a:r>
              <a:rPr lang="en-US" sz="2000" spc="-20">
                <a:solidFill>
                  <a:srgbClr val="274C4B"/>
                </a:solidFill>
                <a:latin typeface="Telegraf"/>
                <a:ea typeface="Telegraf"/>
                <a:cs typeface="Telegraf"/>
                <a:sym typeface="Telegraf"/>
              </a:rPr>
              <a:t> Streamlines the creation of audit reports, ensuring consistency and accuracy.</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Explainable AI Narratives:</a:t>
            </a:r>
            <a:r>
              <a:rPr lang="en-US" sz="2000" spc="-20">
                <a:solidFill>
                  <a:srgbClr val="274C4B"/>
                </a:solidFill>
                <a:latin typeface="Telegraf"/>
                <a:ea typeface="Telegraf"/>
                <a:cs typeface="Telegraf"/>
                <a:sym typeface="Telegraf"/>
              </a:rPr>
              <a:t> Generates clear narratives that explain complex findings in a comprehensible manner.</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Document Intelligence:</a:t>
            </a:r>
            <a:r>
              <a:rPr lang="en-US" sz="2000" spc="-20">
                <a:solidFill>
                  <a:srgbClr val="274C4B"/>
                </a:solidFill>
                <a:latin typeface="Telegraf"/>
                <a:ea typeface="Telegraf"/>
                <a:cs typeface="Telegraf"/>
                <a:sym typeface="Telegraf"/>
              </a:rPr>
              <a:t> Analyzes and extracts relevant information from various documents, improving efficiency.</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Scenario Simulation &amp; Advisory:</a:t>
            </a:r>
            <a:r>
              <a:rPr lang="en-US" sz="2000" spc="-20">
                <a:solidFill>
                  <a:srgbClr val="274C4B"/>
                </a:solidFill>
                <a:latin typeface="Telegraf"/>
                <a:ea typeface="Telegraf"/>
                <a:cs typeface="Telegraf"/>
                <a:sym typeface="Telegraf"/>
              </a:rPr>
              <a:t> Enables auditors to simulate various scenarios and receive guidance based on data trends and insights.</a:t>
            </a:r>
          </a:p>
          <a:p>
            <a:pPr marL="0" lvl="0" indent="0" algn="l">
              <a:lnSpc>
                <a:spcPts val="2800"/>
              </a:lnSpc>
            </a:pPr>
            <a:r>
              <a:rPr lang="en-US" sz="2000" spc="-20">
                <a:solidFill>
                  <a:srgbClr val="274C4B"/>
                </a:solidFill>
                <a:latin typeface="Telegraf"/>
                <a:ea typeface="Telegraf"/>
                <a:cs typeface="Telegraf"/>
                <a:sym typeface="Telegraf"/>
              </a:rPr>
              <a:t>These AI capabilities empower auditors to perform their tasks with greater precision, enhancing overall audit quality, reducing time spent on repetitive tasks, and enabling more informed decision-making.</a:t>
            </a:r>
          </a:p>
        </p:txBody>
      </p:sp>
      <p:sp>
        <p:nvSpPr>
          <p:cNvPr id="6" name="AutoShape 6"/>
          <p:cNvSpPr/>
          <p:nvPr/>
        </p:nvSpPr>
        <p:spPr>
          <a:xfrm>
            <a:off x="666750" y="9620250"/>
            <a:ext cx="16954500" cy="0"/>
          </a:xfrm>
          <a:prstGeom prst="line">
            <a:avLst/>
          </a:prstGeom>
          <a:ln w="9525" cap="flat">
            <a:solidFill>
              <a:srgbClr val="004B40"/>
            </a:solidFill>
            <a:prstDash val="solid"/>
            <a:headEnd type="none" w="sm" len="sm"/>
            <a:tailEnd type="none" w="sm" len="sm"/>
          </a:ln>
        </p:spPr>
      </p:sp>
      <p:sp>
        <p:nvSpPr>
          <p:cNvPr id="7" name="TextBox 7"/>
          <p:cNvSpPr txBox="1"/>
          <p:nvPr/>
        </p:nvSpPr>
        <p:spPr>
          <a:xfrm>
            <a:off x="666750" y="9676455"/>
            <a:ext cx="2571750" cy="217170"/>
          </a:xfrm>
          <a:prstGeom prst="rect">
            <a:avLst/>
          </a:prstGeom>
        </p:spPr>
        <p:txBody>
          <a:bodyPr lIns="0" tIns="0" rIns="0" bIns="0" rtlCol="0" anchor="t">
            <a:spAutoFit/>
          </a:bodyPr>
          <a:lstStyle/>
          <a:p>
            <a:pPr marL="0" lvl="0" indent="0" algn="l">
              <a:lnSpc>
                <a:spcPts val="1679"/>
              </a:lnSpc>
              <a:spcBef>
                <a:spcPct val="0"/>
              </a:spcBef>
            </a:pPr>
            <a:r>
              <a:rPr lang="en-US" sz="1200" b="1" spc="-12">
                <a:solidFill>
                  <a:srgbClr val="274C4B"/>
                </a:solidFill>
                <a:latin typeface="Telegraf Bold"/>
                <a:ea typeface="Telegraf Bold"/>
                <a:cs typeface="Telegraf Bold"/>
                <a:sym typeface="Telegraf Bold"/>
              </a:rPr>
              <a:t>ADDITIONAL INSIGHTS</a:t>
            </a:r>
          </a:p>
        </p:txBody>
      </p:sp>
      <p:sp>
        <p:nvSpPr>
          <p:cNvPr id="8" name="TextBox 8"/>
          <p:cNvSpPr txBox="1"/>
          <p:nvPr/>
        </p:nvSpPr>
        <p:spPr>
          <a:xfrm>
            <a:off x="17415597" y="9676442"/>
            <a:ext cx="152400" cy="190500"/>
          </a:xfrm>
          <a:prstGeom prst="rect">
            <a:avLst/>
          </a:prstGeom>
        </p:spPr>
        <p:txBody>
          <a:bodyPr wrap="none" lIns="0" tIns="0" rIns="0" bIns="0" rtlCol="0" anchor="t">
            <a:spAutoFit/>
          </a:bodyPr>
          <a:lstStyle/>
          <a:p>
            <a:pPr marL="0" lvl="0" indent="0" algn="r">
              <a:lnSpc>
                <a:spcPts val="1679"/>
              </a:lnSpc>
              <a:spcBef>
                <a:spcPct val="0"/>
              </a:spcBef>
            </a:pPr>
            <a:r>
              <a:rPr lang="en-US" sz="1200" b="1">
                <a:solidFill>
                  <a:srgbClr val="274C4B"/>
                </a:solidFill>
                <a:latin typeface="Telegraf Bold"/>
                <a:ea typeface="Telegraf Bold"/>
                <a:cs typeface="Telegraf Bold"/>
                <a:sym typeface="Telegraf Bold"/>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6750" y="666750"/>
            <a:ext cx="6886575" cy="3828692"/>
            <a:chOff x="0" y="0"/>
            <a:chExt cx="9182100" cy="5104923"/>
          </a:xfrm>
        </p:grpSpPr>
        <p:sp>
          <p:nvSpPr>
            <p:cNvPr id="3" name="TextBox 3"/>
            <p:cNvSpPr txBox="1"/>
            <p:nvPr/>
          </p:nvSpPr>
          <p:spPr>
            <a:xfrm>
              <a:off x="0" y="-9525"/>
              <a:ext cx="9182100" cy="4014258"/>
            </a:xfrm>
            <a:prstGeom prst="rect">
              <a:avLst/>
            </a:prstGeom>
          </p:spPr>
          <p:txBody>
            <a:bodyPr lIns="0" tIns="0" rIns="0" bIns="0" rtlCol="0" anchor="t">
              <a:spAutoFit/>
            </a:bodyPr>
            <a:lstStyle/>
            <a:p>
              <a:pPr marL="0" lvl="0" indent="0" algn="l">
                <a:lnSpc>
                  <a:spcPts val="7699"/>
                </a:lnSpc>
              </a:pPr>
              <a:r>
                <a:rPr lang="en-US" sz="6999" b="1" spc="-69">
                  <a:solidFill>
                    <a:srgbClr val="004B40"/>
                  </a:solidFill>
                  <a:latin typeface="Telegraf Bold"/>
                  <a:ea typeface="Telegraf Bold"/>
                  <a:cs typeface="Telegraf Bold"/>
                  <a:sym typeface="Telegraf Bold"/>
                </a:rPr>
                <a:t>Combined Cognitive Intelligence</a:t>
              </a:r>
            </a:p>
          </p:txBody>
        </p:sp>
        <p:sp>
          <p:nvSpPr>
            <p:cNvPr id="4" name="TextBox 4"/>
            <p:cNvSpPr txBox="1"/>
            <p:nvPr/>
          </p:nvSpPr>
          <p:spPr>
            <a:xfrm>
              <a:off x="0" y="4476273"/>
              <a:ext cx="9182100" cy="628650"/>
            </a:xfrm>
            <a:prstGeom prst="rect">
              <a:avLst/>
            </a:prstGeom>
          </p:spPr>
          <p:txBody>
            <a:bodyPr lIns="0" tIns="0" rIns="0" bIns="0" rtlCol="0" anchor="t">
              <a:spAutoFit/>
            </a:bodyPr>
            <a:lstStyle/>
            <a:p>
              <a:pPr marL="0" lvl="0" indent="0" algn="l">
                <a:lnSpc>
                  <a:spcPts val="3300"/>
                </a:lnSpc>
              </a:pPr>
              <a:r>
                <a:rPr lang="en-US" sz="3000" b="1" spc="-30">
                  <a:solidFill>
                    <a:srgbClr val="007D75"/>
                  </a:solidFill>
                  <a:latin typeface="Telegraf Bold"/>
                  <a:ea typeface="Telegraf Bold"/>
                  <a:cs typeface="Telegraf Bold"/>
                  <a:sym typeface="Telegraf Bold"/>
                </a:rPr>
                <a:t>Integrating ML and AI for Audit</a:t>
              </a:r>
            </a:p>
          </p:txBody>
        </p:sp>
      </p:grpSp>
      <p:sp>
        <p:nvSpPr>
          <p:cNvPr id="5" name="TextBox 5"/>
          <p:cNvSpPr txBox="1"/>
          <p:nvPr/>
        </p:nvSpPr>
        <p:spPr>
          <a:xfrm>
            <a:off x="9296400" y="590550"/>
            <a:ext cx="8324850" cy="6016625"/>
          </a:xfrm>
          <a:prstGeom prst="rect">
            <a:avLst/>
          </a:prstGeom>
        </p:spPr>
        <p:txBody>
          <a:bodyPr lIns="0" tIns="0" rIns="0" bIns="0" rtlCol="0" anchor="t">
            <a:spAutoFit/>
          </a:bodyPr>
          <a:lstStyle/>
          <a:p>
            <a:pPr marL="0" lvl="0" indent="0" algn="l">
              <a:lnSpc>
                <a:spcPts val="2800"/>
              </a:lnSpc>
            </a:pPr>
            <a:r>
              <a:rPr lang="en-US" sz="2000" spc="-20">
                <a:solidFill>
                  <a:srgbClr val="274C4B"/>
                </a:solidFill>
                <a:latin typeface="Telegraf"/>
                <a:ea typeface="Telegraf"/>
                <a:cs typeface="Telegraf"/>
                <a:sym typeface="Telegraf"/>
              </a:rPr>
              <a:t>The </a:t>
            </a:r>
            <a:r>
              <a:rPr lang="en-US" sz="2000" b="1" spc="-20">
                <a:solidFill>
                  <a:srgbClr val="274C4B"/>
                </a:solidFill>
                <a:latin typeface="Telegraf Bold"/>
                <a:ea typeface="Telegraf Bold"/>
                <a:cs typeface="Telegraf Bold"/>
                <a:sym typeface="Telegraf Bold"/>
              </a:rPr>
              <a:t>Combined Cognitive Intelligence</a:t>
            </a:r>
            <a:r>
              <a:rPr lang="en-US" sz="2000" spc="-20">
                <a:solidFill>
                  <a:srgbClr val="274C4B"/>
                </a:solidFill>
                <a:latin typeface="Telegraf"/>
                <a:ea typeface="Telegraf"/>
                <a:cs typeface="Telegraf"/>
                <a:sym typeface="Telegraf"/>
              </a:rPr>
              <a:t> approach merges machine learning and artificial intelligence to enhance audit processes. Key components include:</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Cognitive Audit Dashboard</a:t>
            </a:r>
            <a:r>
              <a:rPr lang="en-US" sz="2000" spc="-20">
                <a:solidFill>
                  <a:srgbClr val="274C4B"/>
                </a:solidFill>
                <a:latin typeface="Telegraf"/>
                <a:ea typeface="Telegraf"/>
                <a:cs typeface="Telegraf"/>
                <a:sym typeface="Telegraf"/>
              </a:rPr>
              <a:t>: A centralized interface that visualizes audit data and insights.</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End-to-End Confirmation Validation</a:t>
            </a:r>
            <a:r>
              <a:rPr lang="en-US" sz="2000" spc="-20">
                <a:solidFill>
                  <a:srgbClr val="274C4B"/>
                </a:solidFill>
                <a:latin typeface="Telegraf"/>
                <a:ea typeface="Telegraf"/>
                <a:cs typeface="Telegraf"/>
                <a:sym typeface="Telegraf"/>
              </a:rPr>
              <a:t>: Streamlined verification processes to ensure data accuracy.</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Proactive Watchlists</a:t>
            </a:r>
            <a:r>
              <a:rPr lang="en-US" sz="2000" spc="-20">
                <a:solidFill>
                  <a:srgbClr val="274C4B"/>
                </a:solidFill>
                <a:latin typeface="Telegraf"/>
                <a:ea typeface="Telegraf"/>
                <a:cs typeface="Telegraf"/>
                <a:sym typeface="Telegraf"/>
              </a:rPr>
              <a:t>: Automated identification of high-risk clients and transactions for immediate attention.</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Natural Language Data Discovery</a:t>
            </a:r>
            <a:r>
              <a:rPr lang="en-US" sz="2000" spc="-20">
                <a:solidFill>
                  <a:srgbClr val="274C4B"/>
                </a:solidFill>
                <a:latin typeface="Telegraf"/>
                <a:ea typeface="Telegraf"/>
                <a:cs typeface="Telegraf"/>
                <a:sym typeface="Telegraf"/>
              </a:rPr>
              <a:t>: Leveraging AI to facilitate intuitive querying and retrieval of information from datasets, making it accessible and user-friendly.</a:t>
            </a:r>
          </a:p>
          <a:p>
            <a:pPr marL="0" lvl="0" indent="0" algn="l">
              <a:lnSpc>
                <a:spcPts val="2800"/>
              </a:lnSpc>
            </a:pPr>
            <a:r>
              <a:rPr lang="en-US" sz="2000" spc="-20">
                <a:solidFill>
                  <a:srgbClr val="274C4B"/>
                </a:solidFill>
                <a:latin typeface="Telegraf"/>
                <a:ea typeface="Telegraf"/>
                <a:cs typeface="Telegraf"/>
                <a:sym typeface="Telegraf"/>
              </a:rPr>
              <a:t>By combining these elements, auditors can achieve greater efficiency, accuracy, and insight-driven decision-making. This integrated system empowers audit teams to focus on strategic analysis rather than manual data handling, transforming the audit landscape into a more agile and proactive function within Standard Chartered Bank.</a:t>
            </a:r>
          </a:p>
        </p:txBody>
      </p:sp>
      <p:sp>
        <p:nvSpPr>
          <p:cNvPr id="6" name="AutoShape 6"/>
          <p:cNvSpPr/>
          <p:nvPr/>
        </p:nvSpPr>
        <p:spPr>
          <a:xfrm>
            <a:off x="666750" y="9620250"/>
            <a:ext cx="16954500" cy="0"/>
          </a:xfrm>
          <a:prstGeom prst="line">
            <a:avLst/>
          </a:prstGeom>
          <a:ln w="9525" cap="flat">
            <a:solidFill>
              <a:srgbClr val="004B40"/>
            </a:solidFill>
            <a:prstDash val="solid"/>
            <a:headEnd type="none" w="sm" len="sm"/>
            <a:tailEnd type="none" w="sm" len="sm"/>
          </a:ln>
        </p:spPr>
      </p:sp>
      <p:sp>
        <p:nvSpPr>
          <p:cNvPr id="7" name="TextBox 7"/>
          <p:cNvSpPr txBox="1"/>
          <p:nvPr/>
        </p:nvSpPr>
        <p:spPr>
          <a:xfrm>
            <a:off x="666750" y="9676455"/>
            <a:ext cx="2571750" cy="217170"/>
          </a:xfrm>
          <a:prstGeom prst="rect">
            <a:avLst/>
          </a:prstGeom>
        </p:spPr>
        <p:txBody>
          <a:bodyPr lIns="0" tIns="0" rIns="0" bIns="0" rtlCol="0" anchor="t">
            <a:spAutoFit/>
          </a:bodyPr>
          <a:lstStyle/>
          <a:p>
            <a:pPr marL="0" lvl="0" indent="0" algn="l">
              <a:lnSpc>
                <a:spcPts val="1679"/>
              </a:lnSpc>
              <a:spcBef>
                <a:spcPct val="0"/>
              </a:spcBef>
            </a:pPr>
            <a:r>
              <a:rPr lang="en-US" sz="1200" b="1" spc="-12">
                <a:solidFill>
                  <a:srgbClr val="274C4B"/>
                </a:solidFill>
                <a:latin typeface="Telegraf Bold"/>
                <a:ea typeface="Telegraf Bold"/>
                <a:cs typeface="Telegraf Bold"/>
                <a:sym typeface="Telegraf Bold"/>
              </a:rPr>
              <a:t>NOTES AND REFERENCES</a:t>
            </a:r>
          </a:p>
        </p:txBody>
      </p:sp>
      <p:sp>
        <p:nvSpPr>
          <p:cNvPr id="8" name="TextBox 8"/>
          <p:cNvSpPr txBox="1"/>
          <p:nvPr/>
        </p:nvSpPr>
        <p:spPr>
          <a:xfrm>
            <a:off x="17415597" y="9676442"/>
            <a:ext cx="152400" cy="190500"/>
          </a:xfrm>
          <a:prstGeom prst="rect">
            <a:avLst/>
          </a:prstGeom>
        </p:spPr>
        <p:txBody>
          <a:bodyPr wrap="none" lIns="0" tIns="0" rIns="0" bIns="0" rtlCol="0" anchor="t">
            <a:spAutoFit/>
          </a:bodyPr>
          <a:lstStyle/>
          <a:p>
            <a:pPr marL="0" lvl="0" indent="0" algn="r">
              <a:lnSpc>
                <a:spcPts val="1679"/>
              </a:lnSpc>
              <a:spcBef>
                <a:spcPct val="0"/>
              </a:spcBef>
            </a:pPr>
            <a:r>
              <a:rPr lang="en-US" sz="1200" b="1">
                <a:solidFill>
                  <a:srgbClr val="274C4B"/>
                </a:solidFill>
                <a:latin typeface="Telegraf Bold"/>
                <a:ea typeface="Telegraf Bold"/>
                <a:cs typeface="Telegraf Bold"/>
                <a:sym typeface="Telegraf Bold"/>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6750" y="666750"/>
            <a:ext cx="6886575" cy="2857142"/>
            <a:chOff x="0" y="0"/>
            <a:chExt cx="9182100" cy="3809523"/>
          </a:xfrm>
        </p:grpSpPr>
        <p:sp>
          <p:nvSpPr>
            <p:cNvPr id="3" name="TextBox 3"/>
            <p:cNvSpPr txBox="1"/>
            <p:nvPr/>
          </p:nvSpPr>
          <p:spPr>
            <a:xfrm>
              <a:off x="0" y="-9525"/>
              <a:ext cx="9182100" cy="2718858"/>
            </a:xfrm>
            <a:prstGeom prst="rect">
              <a:avLst/>
            </a:prstGeom>
          </p:spPr>
          <p:txBody>
            <a:bodyPr lIns="0" tIns="0" rIns="0" bIns="0" rtlCol="0" anchor="t">
              <a:spAutoFit/>
            </a:bodyPr>
            <a:lstStyle/>
            <a:p>
              <a:pPr marL="0" lvl="0" indent="0" algn="l">
                <a:lnSpc>
                  <a:spcPts val="7699"/>
                </a:lnSpc>
              </a:pPr>
              <a:r>
                <a:rPr lang="en-US" sz="6999" b="1" spc="-69">
                  <a:solidFill>
                    <a:srgbClr val="004B40"/>
                  </a:solidFill>
                  <a:latin typeface="Telegraf Bold"/>
                  <a:ea typeface="Telegraf Bold"/>
                  <a:cs typeface="Telegraf Bold"/>
                  <a:sym typeface="Telegraf Bold"/>
                </a:rPr>
                <a:t>Technical Architecture</a:t>
              </a:r>
            </a:p>
          </p:txBody>
        </p:sp>
        <p:sp>
          <p:nvSpPr>
            <p:cNvPr id="4" name="TextBox 4"/>
            <p:cNvSpPr txBox="1"/>
            <p:nvPr/>
          </p:nvSpPr>
          <p:spPr>
            <a:xfrm>
              <a:off x="0" y="3180873"/>
              <a:ext cx="9182100" cy="628650"/>
            </a:xfrm>
            <a:prstGeom prst="rect">
              <a:avLst/>
            </a:prstGeom>
          </p:spPr>
          <p:txBody>
            <a:bodyPr lIns="0" tIns="0" rIns="0" bIns="0" rtlCol="0" anchor="t">
              <a:spAutoFit/>
            </a:bodyPr>
            <a:lstStyle/>
            <a:p>
              <a:pPr marL="0" lvl="0" indent="0" algn="l">
                <a:lnSpc>
                  <a:spcPts val="3300"/>
                </a:lnSpc>
              </a:pPr>
              <a:r>
                <a:rPr lang="en-US" sz="3000" b="1" spc="-30">
                  <a:solidFill>
                    <a:srgbClr val="007D75"/>
                  </a:solidFill>
                  <a:latin typeface="Telegraf Bold"/>
                  <a:ea typeface="Telegraf Bold"/>
                  <a:cs typeface="Telegraf Bold"/>
                  <a:sym typeface="Telegraf Bold"/>
                </a:rPr>
                <a:t>Overview of System Components</a:t>
              </a:r>
            </a:p>
          </p:txBody>
        </p:sp>
      </p:grpSp>
      <p:sp>
        <p:nvSpPr>
          <p:cNvPr id="5" name="TextBox 5"/>
          <p:cNvSpPr txBox="1"/>
          <p:nvPr/>
        </p:nvSpPr>
        <p:spPr>
          <a:xfrm>
            <a:off x="9296400" y="590550"/>
            <a:ext cx="8324850" cy="6016625"/>
          </a:xfrm>
          <a:prstGeom prst="rect">
            <a:avLst/>
          </a:prstGeom>
        </p:spPr>
        <p:txBody>
          <a:bodyPr lIns="0" tIns="0" rIns="0" bIns="0" rtlCol="0" anchor="t">
            <a:spAutoFit/>
          </a:bodyPr>
          <a:lstStyle/>
          <a:p>
            <a:pPr marL="0" lvl="0" indent="0" algn="l">
              <a:lnSpc>
                <a:spcPts val="2800"/>
              </a:lnSpc>
            </a:pPr>
            <a:r>
              <a:rPr lang="en-US" sz="2000" spc="-20">
                <a:solidFill>
                  <a:srgbClr val="274C4B"/>
                </a:solidFill>
                <a:latin typeface="Telegraf"/>
                <a:ea typeface="Telegraf"/>
                <a:cs typeface="Telegraf"/>
                <a:sym typeface="Telegraf"/>
              </a:rPr>
              <a:t>The architecture for the AI/ML-driven 360° Client Intelligence platform consists of several key layers:</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Data Ingestion Layer</a:t>
            </a:r>
            <a:r>
              <a:rPr lang="en-US" sz="2000" spc="-20">
                <a:solidFill>
                  <a:srgbClr val="274C4B"/>
                </a:solidFill>
                <a:latin typeface="Telegraf"/>
                <a:ea typeface="Telegraf"/>
                <a:cs typeface="Telegraf"/>
                <a:sym typeface="Telegraf"/>
              </a:rPr>
              <a:t>: This layer is responsible for aggregating data from various sources, including Excel, PDFs, and databases, ensuring a comprehensive data set for analysis.</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ML Engine</a:t>
            </a:r>
            <a:r>
              <a:rPr lang="en-US" sz="2000" spc="-20">
                <a:solidFill>
                  <a:srgbClr val="274C4B"/>
                </a:solidFill>
                <a:latin typeface="Telegraf"/>
                <a:ea typeface="Telegraf"/>
                <a:cs typeface="Telegraf"/>
                <a:sym typeface="Telegraf"/>
              </a:rPr>
              <a:t>: Utilizing advanced techniques such as feature engineering, anomaly detection, and clustering to derive insights from the data, this engine forms the core of the intelligence framework.</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AI/LLM Layer</a:t>
            </a:r>
            <a:r>
              <a:rPr lang="en-US" sz="2000" spc="-20">
                <a:solidFill>
                  <a:srgbClr val="274C4B"/>
                </a:solidFill>
                <a:latin typeface="Telegraf"/>
                <a:ea typeface="Telegraf"/>
                <a:cs typeface="Telegraf"/>
                <a:sym typeface="Telegraf"/>
              </a:rPr>
              <a:t>: Implementing LangChain and GPT models, this layer enables reasoning and reporting capabilities, enhancing the interpretability of audit results.</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Visualization Layer</a:t>
            </a:r>
            <a:r>
              <a:rPr lang="en-US" sz="2000" spc="-20">
                <a:solidFill>
                  <a:srgbClr val="274C4B"/>
                </a:solidFill>
                <a:latin typeface="Telegraf"/>
                <a:ea typeface="Telegraf"/>
                <a:cs typeface="Telegraf"/>
                <a:sym typeface="Telegraf"/>
              </a:rPr>
              <a:t>: Using tools like Streamlit and Power BI, this layer provides intuitive dashboards to visualize data insights effectively.</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Governance</a:t>
            </a:r>
            <a:r>
              <a:rPr lang="en-US" sz="2000" spc="-20">
                <a:solidFill>
                  <a:srgbClr val="274C4B"/>
                </a:solidFill>
                <a:latin typeface="Telegraf"/>
                <a:ea typeface="Telegraf"/>
                <a:cs typeface="Telegraf"/>
                <a:sym typeface="Telegraf"/>
              </a:rPr>
              <a:t>: Ensuring continuous learning and audit tracking, this aspect upholds the integrity and reliability of the entire system.</a:t>
            </a:r>
          </a:p>
        </p:txBody>
      </p:sp>
      <p:sp>
        <p:nvSpPr>
          <p:cNvPr id="6" name="AutoShape 6"/>
          <p:cNvSpPr/>
          <p:nvPr/>
        </p:nvSpPr>
        <p:spPr>
          <a:xfrm>
            <a:off x="666750" y="9620250"/>
            <a:ext cx="16954500" cy="0"/>
          </a:xfrm>
          <a:prstGeom prst="line">
            <a:avLst/>
          </a:prstGeom>
          <a:ln w="9525" cap="flat">
            <a:solidFill>
              <a:srgbClr val="004B40"/>
            </a:solidFill>
            <a:prstDash val="solid"/>
            <a:headEnd type="none" w="sm" len="sm"/>
            <a:tailEnd type="none" w="sm" len="sm"/>
          </a:ln>
        </p:spPr>
      </p:sp>
      <p:sp>
        <p:nvSpPr>
          <p:cNvPr id="7" name="TextBox 7"/>
          <p:cNvSpPr txBox="1"/>
          <p:nvPr/>
        </p:nvSpPr>
        <p:spPr>
          <a:xfrm>
            <a:off x="666750" y="9676455"/>
            <a:ext cx="2571750" cy="217170"/>
          </a:xfrm>
          <a:prstGeom prst="rect">
            <a:avLst/>
          </a:prstGeom>
        </p:spPr>
        <p:txBody>
          <a:bodyPr lIns="0" tIns="0" rIns="0" bIns="0" rtlCol="0" anchor="t">
            <a:spAutoFit/>
          </a:bodyPr>
          <a:lstStyle/>
          <a:p>
            <a:pPr marL="0" lvl="0" indent="0" algn="l">
              <a:lnSpc>
                <a:spcPts val="1679"/>
              </a:lnSpc>
              <a:spcBef>
                <a:spcPct val="0"/>
              </a:spcBef>
            </a:pPr>
            <a:r>
              <a:rPr lang="en-US" sz="1200" b="1" spc="-12">
                <a:solidFill>
                  <a:srgbClr val="274C4B"/>
                </a:solidFill>
                <a:latin typeface="Telegraf Bold"/>
                <a:ea typeface="Telegraf Bold"/>
                <a:cs typeface="Telegraf Bold"/>
                <a:sym typeface="Telegraf Bold"/>
              </a:rPr>
              <a:t>SYSTEM INSIGHTS</a:t>
            </a:r>
          </a:p>
        </p:txBody>
      </p:sp>
      <p:sp>
        <p:nvSpPr>
          <p:cNvPr id="8" name="TextBox 8"/>
          <p:cNvSpPr txBox="1"/>
          <p:nvPr/>
        </p:nvSpPr>
        <p:spPr>
          <a:xfrm>
            <a:off x="17415597" y="9676442"/>
            <a:ext cx="152400" cy="190500"/>
          </a:xfrm>
          <a:prstGeom prst="rect">
            <a:avLst/>
          </a:prstGeom>
        </p:spPr>
        <p:txBody>
          <a:bodyPr wrap="none" lIns="0" tIns="0" rIns="0" bIns="0" rtlCol="0" anchor="t">
            <a:spAutoFit/>
          </a:bodyPr>
          <a:lstStyle/>
          <a:p>
            <a:pPr marL="0" lvl="0" indent="0" algn="r">
              <a:lnSpc>
                <a:spcPts val="1679"/>
              </a:lnSpc>
              <a:spcBef>
                <a:spcPct val="0"/>
              </a:spcBef>
            </a:pPr>
            <a:r>
              <a:rPr lang="en-US" sz="1200" b="1">
                <a:solidFill>
                  <a:srgbClr val="274C4B"/>
                </a:solidFill>
                <a:latin typeface="Telegraf Bold"/>
                <a:ea typeface="Telegraf Bold"/>
                <a:cs typeface="Telegraf Bold"/>
                <a:sym typeface="Telegraf Bold"/>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6750" y="666750"/>
            <a:ext cx="6886575" cy="3828692"/>
            <a:chOff x="0" y="0"/>
            <a:chExt cx="9182100" cy="5104923"/>
          </a:xfrm>
        </p:grpSpPr>
        <p:sp>
          <p:nvSpPr>
            <p:cNvPr id="3" name="TextBox 3"/>
            <p:cNvSpPr txBox="1"/>
            <p:nvPr/>
          </p:nvSpPr>
          <p:spPr>
            <a:xfrm>
              <a:off x="0" y="-9525"/>
              <a:ext cx="9182100" cy="4014258"/>
            </a:xfrm>
            <a:prstGeom prst="rect">
              <a:avLst/>
            </a:prstGeom>
          </p:spPr>
          <p:txBody>
            <a:bodyPr lIns="0" tIns="0" rIns="0" bIns="0" rtlCol="0" anchor="t">
              <a:spAutoFit/>
            </a:bodyPr>
            <a:lstStyle/>
            <a:p>
              <a:pPr marL="0" lvl="0" indent="0" algn="l">
                <a:lnSpc>
                  <a:spcPts val="7699"/>
                </a:lnSpc>
              </a:pPr>
              <a:r>
                <a:rPr lang="en-US" sz="6999" b="1" spc="-69">
                  <a:solidFill>
                    <a:srgbClr val="004B40"/>
                  </a:solidFill>
                  <a:latin typeface="Telegraf Bold"/>
                  <a:ea typeface="Telegraf Bold"/>
                  <a:cs typeface="Telegraf Bold"/>
                  <a:sym typeface="Telegraf Bold"/>
                </a:rPr>
                <a:t>Expected Business Impact</a:t>
              </a:r>
            </a:p>
          </p:txBody>
        </p:sp>
        <p:sp>
          <p:nvSpPr>
            <p:cNvPr id="4" name="TextBox 4"/>
            <p:cNvSpPr txBox="1"/>
            <p:nvPr/>
          </p:nvSpPr>
          <p:spPr>
            <a:xfrm>
              <a:off x="0" y="4476273"/>
              <a:ext cx="9182100" cy="628650"/>
            </a:xfrm>
            <a:prstGeom prst="rect">
              <a:avLst/>
            </a:prstGeom>
          </p:spPr>
          <p:txBody>
            <a:bodyPr lIns="0" tIns="0" rIns="0" bIns="0" rtlCol="0" anchor="t">
              <a:spAutoFit/>
            </a:bodyPr>
            <a:lstStyle/>
            <a:p>
              <a:pPr marL="0" lvl="0" indent="0" algn="l">
                <a:lnSpc>
                  <a:spcPts val="3300"/>
                </a:lnSpc>
              </a:pPr>
              <a:r>
                <a:rPr lang="en-US" sz="3000" b="1" spc="-30">
                  <a:solidFill>
                    <a:srgbClr val="007D75"/>
                  </a:solidFill>
                  <a:latin typeface="Telegraf Bold"/>
                  <a:ea typeface="Telegraf Bold"/>
                  <a:cs typeface="Telegraf Bold"/>
                  <a:sym typeface="Telegraf Bold"/>
                </a:rPr>
                <a:t>Key benefits of our initiative</a:t>
              </a:r>
            </a:p>
          </p:txBody>
        </p:sp>
      </p:grpSp>
      <p:sp>
        <p:nvSpPr>
          <p:cNvPr id="5" name="TextBox 5"/>
          <p:cNvSpPr txBox="1"/>
          <p:nvPr/>
        </p:nvSpPr>
        <p:spPr>
          <a:xfrm>
            <a:off x="9296400" y="590550"/>
            <a:ext cx="8324850" cy="6016625"/>
          </a:xfrm>
          <a:prstGeom prst="rect">
            <a:avLst/>
          </a:prstGeom>
        </p:spPr>
        <p:txBody>
          <a:bodyPr lIns="0" tIns="0" rIns="0" bIns="0" rtlCol="0" anchor="t">
            <a:spAutoFit/>
          </a:bodyPr>
          <a:lstStyle/>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60–70% faster</a:t>
            </a:r>
            <a:r>
              <a:rPr lang="en-US" sz="2000" spc="-20">
                <a:solidFill>
                  <a:srgbClr val="274C4B"/>
                </a:solidFill>
                <a:latin typeface="Telegraf"/>
                <a:ea typeface="Telegraf"/>
                <a:cs typeface="Telegraf"/>
                <a:sym typeface="Telegraf"/>
              </a:rPr>
              <a:t> anomaly detection</a:t>
            </a:r>
          </a:p>
          <a:p>
            <a:pPr marL="431801" lvl="1" indent="-215900" algn="l">
              <a:lnSpc>
                <a:spcPts val="2800"/>
              </a:lnSpc>
              <a:buFont typeface="Arial"/>
              <a:buChar char="•"/>
            </a:pPr>
            <a:r>
              <a:rPr lang="en-US" sz="2000" spc="-20">
                <a:solidFill>
                  <a:srgbClr val="274C4B"/>
                </a:solidFill>
                <a:latin typeface="Telegraf"/>
                <a:ea typeface="Telegraf"/>
                <a:cs typeface="Telegraf"/>
                <a:sym typeface="Telegraf"/>
              </a:rPr>
              <a:t>Enhanced audit accuracy &amp; transparency</a:t>
            </a:r>
          </a:p>
          <a:p>
            <a:pPr marL="431801" lvl="1" indent="-215900" algn="l">
              <a:lnSpc>
                <a:spcPts val="2800"/>
              </a:lnSpc>
              <a:buFont typeface="Arial"/>
              <a:buChar char="•"/>
            </a:pPr>
            <a:r>
              <a:rPr lang="en-US" sz="2000" spc="-20">
                <a:solidFill>
                  <a:srgbClr val="274C4B"/>
                </a:solidFill>
                <a:latin typeface="Telegraf"/>
                <a:ea typeface="Telegraf"/>
                <a:cs typeface="Telegraf"/>
                <a:sym typeface="Telegraf"/>
              </a:rPr>
              <a:t>Proactive risk management</a:t>
            </a:r>
          </a:p>
          <a:p>
            <a:pPr marL="431801" lvl="1" indent="-215900" algn="l">
              <a:lnSpc>
                <a:spcPts val="2800"/>
              </a:lnSpc>
              <a:buFont typeface="Arial"/>
              <a:buChar char="•"/>
            </a:pPr>
            <a:r>
              <a:rPr lang="en-US" sz="2000" spc="-20">
                <a:solidFill>
                  <a:srgbClr val="274C4B"/>
                </a:solidFill>
                <a:latin typeface="Telegraf"/>
                <a:ea typeface="Telegraf"/>
                <a:cs typeface="Telegraf"/>
                <a:sym typeface="Telegraf"/>
              </a:rPr>
              <a:t>Reduced manual reporting</a:t>
            </a:r>
          </a:p>
          <a:p>
            <a:pPr marL="431801" lvl="1" indent="-215900" algn="l">
              <a:lnSpc>
                <a:spcPts val="2800"/>
              </a:lnSpc>
              <a:buFont typeface="Arial"/>
              <a:buChar char="•"/>
            </a:pPr>
            <a:r>
              <a:rPr lang="en-US" sz="2000" spc="-20">
                <a:solidFill>
                  <a:srgbClr val="274C4B"/>
                </a:solidFill>
                <a:latin typeface="Telegraf"/>
                <a:ea typeface="Telegraf"/>
                <a:cs typeface="Telegraf"/>
                <a:sym typeface="Telegraf"/>
              </a:rPr>
              <a:t>AI-first audit framework</a:t>
            </a:r>
          </a:p>
          <a:p>
            <a:pPr marL="0" lvl="0" indent="0" algn="l">
              <a:lnSpc>
                <a:spcPts val="2800"/>
              </a:lnSpc>
            </a:pPr>
            <a:r>
              <a:rPr lang="en-US" sz="2000" spc="-20">
                <a:solidFill>
                  <a:srgbClr val="274C4B"/>
                </a:solidFill>
                <a:latin typeface="Telegraf"/>
                <a:ea typeface="Telegraf"/>
                <a:cs typeface="Telegraf"/>
                <a:sym typeface="Telegraf"/>
              </a:rPr>
              <a:t>The implementation of AI and machine learning into our audit processes will revolutionize how we manage client data and risk assessment. By achieving </a:t>
            </a:r>
            <a:r>
              <a:rPr lang="en-US" sz="2000" b="1" spc="-20">
                <a:solidFill>
                  <a:srgbClr val="274C4B"/>
                </a:solidFill>
                <a:latin typeface="Telegraf Bold"/>
                <a:ea typeface="Telegraf Bold"/>
                <a:cs typeface="Telegraf Bold"/>
                <a:sym typeface="Telegraf Bold"/>
              </a:rPr>
              <a:t>60–70% faster</a:t>
            </a:r>
            <a:r>
              <a:rPr lang="en-US" sz="2000" spc="-20">
                <a:solidFill>
                  <a:srgbClr val="274C4B"/>
                </a:solidFill>
                <a:latin typeface="Telegraf"/>
                <a:ea typeface="Telegraf"/>
                <a:cs typeface="Telegraf"/>
                <a:sym typeface="Telegraf"/>
              </a:rPr>
              <a:t> anomaly detection, we not only enhance our efficiency but also significantly improve the accuracy and transparency of our audits. This proactive risk management approach allows us to identify potential issues before they escalate, creating a more resilient financial environment. Moreover, the shift to an AI-first audit framework will reduce reliance on time-consuming manual reporting, freeing up valuable resources for more strategic initiatives. Our commitment to leveraging cutting-edge technology positions Standard Chartered Bank as a leader in innovative audit practices, ultimately benefiting our clients through enhanced service reliability and trust.</a:t>
            </a:r>
          </a:p>
        </p:txBody>
      </p:sp>
      <p:sp>
        <p:nvSpPr>
          <p:cNvPr id="6" name="AutoShape 6"/>
          <p:cNvSpPr/>
          <p:nvPr/>
        </p:nvSpPr>
        <p:spPr>
          <a:xfrm>
            <a:off x="666750" y="9620250"/>
            <a:ext cx="16954500" cy="0"/>
          </a:xfrm>
          <a:prstGeom prst="line">
            <a:avLst/>
          </a:prstGeom>
          <a:ln w="9525" cap="flat">
            <a:solidFill>
              <a:srgbClr val="004B40"/>
            </a:solidFill>
            <a:prstDash val="solid"/>
            <a:headEnd type="none" w="sm" len="sm"/>
            <a:tailEnd type="none" w="sm" len="sm"/>
          </a:ln>
        </p:spPr>
      </p:sp>
      <p:sp>
        <p:nvSpPr>
          <p:cNvPr id="7" name="TextBox 7"/>
          <p:cNvSpPr txBox="1"/>
          <p:nvPr/>
        </p:nvSpPr>
        <p:spPr>
          <a:xfrm>
            <a:off x="666750" y="9676455"/>
            <a:ext cx="2571750" cy="217170"/>
          </a:xfrm>
          <a:prstGeom prst="rect">
            <a:avLst/>
          </a:prstGeom>
        </p:spPr>
        <p:txBody>
          <a:bodyPr lIns="0" tIns="0" rIns="0" bIns="0" rtlCol="0" anchor="t">
            <a:spAutoFit/>
          </a:bodyPr>
          <a:lstStyle/>
          <a:p>
            <a:pPr marL="0" lvl="0" indent="0" algn="l">
              <a:lnSpc>
                <a:spcPts val="1679"/>
              </a:lnSpc>
              <a:spcBef>
                <a:spcPct val="0"/>
              </a:spcBef>
            </a:pPr>
            <a:r>
              <a:rPr lang="en-US" sz="1200" b="1" spc="-12">
                <a:solidFill>
                  <a:srgbClr val="274C4B"/>
                </a:solidFill>
                <a:latin typeface="Telegraf Bold"/>
                <a:ea typeface="Telegraf Bold"/>
                <a:cs typeface="Telegraf Bold"/>
                <a:sym typeface="Telegraf Bold"/>
              </a:rPr>
              <a:t>ADDITIONAL INFORMATION</a:t>
            </a:r>
          </a:p>
        </p:txBody>
      </p:sp>
      <p:sp>
        <p:nvSpPr>
          <p:cNvPr id="8" name="TextBox 8"/>
          <p:cNvSpPr txBox="1"/>
          <p:nvPr/>
        </p:nvSpPr>
        <p:spPr>
          <a:xfrm>
            <a:off x="17415597" y="9676442"/>
            <a:ext cx="152400" cy="190500"/>
          </a:xfrm>
          <a:prstGeom prst="rect">
            <a:avLst/>
          </a:prstGeom>
        </p:spPr>
        <p:txBody>
          <a:bodyPr wrap="none" lIns="0" tIns="0" rIns="0" bIns="0" rtlCol="0" anchor="t">
            <a:spAutoFit/>
          </a:bodyPr>
          <a:lstStyle/>
          <a:p>
            <a:pPr marL="0" lvl="0" indent="0" algn="r">
              <a:lnSpc>
                <a:spcPts val="1679"/>
              </a:lnSpc>
              <a:spcBef>
                <a:spcPct val="0"/>
              </a:spcBef>
            </a:pPr>
            <a:r>
              <a:rPr lang="en-US" sz="1200" b="1">
                <a:solidFill>
                  <a:srgbClr val="274C4B"/>
                </a:solidFill>
                <a:latin typeface="Telegraf Bold"/>
                <a:ea typeface="Telegraf Bold"/>
                <a:cs typeface="Telegraf Bold"/>
                <a:sym typeface="Telegraf Bold"/>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6750" y="666750"/>
            <a:ext cx="6886575" cy="2304692"/>
            <a:chOff x="0" y="0"/>
            <a:chExt cx="9182100" cy="3072923"/>
          </a:xfrm>
        </p:grpSpPr>
        <p:sp>
          <p:nvSpPr>
            <p:cNvPr id="3" name="TextBox 3"/>
            <p:cNvSpPr txBox="1"/>
            <p:nvPr/>
          </p:nvSpPr>
          <p:spPr>
            <a:xfrm>
              <a:off x="0" y="-9525"/>
              <a:ext cx="9182100" cy="1423458"/>
            </a:xfrm>
            <a:prstGeom prst="rect">
              <a:avLst/>
            </a:prstGeom>
          </p:spPr>
          <p:txBody>
            <a:bodyPr lIns="0" tIns="0" rIns="0" bIns="0" rtlCol="0" anchor="t">
              <a:spAutoFit/>
            </a:bodyPr>
            <a:lstStyle/>
            <a:p>
              <a:pPr marL="0" lvl="0" indent="0" algn="l">
                <a:lnSpc>
                  <a:spcPts val="7699"/>
                </a:lnSpc>
              </a:pPr>
              <a:r>
                <a:rPr lang="en-US" sz="6999" b="1" spc="-69">
                  <a:solidFill>
                    <a:srgbClr val="004B40"/>
                  </a:solidFill>
                  <a:latin typeface="Telegraf Bold"/>
                  <a:ea typeface="Telegraf Bold"/>
                  <a:cs typeface="Telegraf Bold"/>
                  <a:sym typeface="Telegraf Bold"/>
                </a:rPr>
                <a:t>Next Steps</a:t>
              </a:r>
            </a:p>
          </p:txBody>
        </p:sp>
        <p:sp>
          <p:nvSpPr>
            <p:cNvPr id="4" name="TextBox 4"/>
            <p:cNvSpPr txBox="1"/>
            <p:nvPr/>
          </p:nvSpPr>
          <p:spPr>
            <a:xfrm>
              <a:off x="0" y="1885473"/>
              <a:ext cx="9182100" cy="1187450"/>
            </a:xfrm>
            <a:prstGeom prst="rect">
              <a:avLst/>
            </a:prstGeom>
          </p:spPr>
          <p:txBody>
            <a:bodyPr lIns="0" tIns="0" rIns="0" bIns="0" rtlCol="0" anchor="t">
              <a:spAutoFit/>
            </a:bodyPr>
            <a:lstStyle/>
            <a:p>
              <a:pPr marL="0" lvl="0" indent="0" algn="l">
                <a:lnSpc>
                  <a:spcPts val="3300"/>
                </a:lnSpc>
              </a:pPr>
              <a:r>
                <a:rPr lang="en-US" sz="3000" b="1" spc="-30">
                  <a:solidFill>
                    <a:srgbClr val="007D75"/>
                  </a:solidFill>
                  <a:latin typeface="Telegraf Bold"/>
                  <a:ea typeface="Telegraf Bold"/>
                  <a:cs typeface="Telegraf Bold"/>
                  <a:sym typeface="Telegraf Bold"/>
                </a:rPr>
                <a:t>Implementation Guidance for Client Intelligence</a:t>
              </a:r>
            </a:p>
          </p:txBody>
        </p:sp>
      </p:grpSp>
      <p:sp>
        <p:nvSpPr>
          <p:cNvPr id="5" name="TextBox 5"/>
          <p:cNvSpPr txBox="1"/>
          <p:nvPr/>
        </p:nvSpPr>
        <p:spPr>
          <a:xfrm>
            <a:off x="9296400" y="590550"/>
            <a:ext cx="8324850" cy="4959350"/>
          </a:xfrm>
          <a:prstGeom prst="rect">
            <a:avLst/>
          </a:prstGeom>
        </p:spPr>
        <p:txBody>
          <a:bodyPr lIns="0" tIns="0" rIns="0" bIns="0" rtlCol="0" anchor="t">
            <a:spAutoFit/>
          </a:bodyPr>
          <a:lstStyle/>
          <a:p>
            <a:pPr marL="0" lvl="0" indent="0" algn="l">
              <a:lnSpc>
                <a:spcPts val="2800"/>
              </a:lnSpc>
            </a:pPr>
            <a:r>
              <a:rPr lang="en-US" sz="2000" spc="-20">
                <a:solidFill>
                  <a:srgbClr val="274C4B"/>
                </a:solidFill>
                <a:latin typeface="Telegraf"/>
                <a:ea typeface="Telegraf"/>
                <a:cs typeface="Telegraf"/>
                <a:sym typeface="Telegraf"/>
              </a:rPr>
              <a:t>To advance our initiative, we will focus on the following key steps:</a:t>
            </a:r>
          </a:p>
          <a:p>
            <a:pPr marL="431801" lvl="1" indent="-215900" algn="l">
              <a:lnSpc>
                <a:spcPts val="2800"/>
              </a:lnSpc>
              <a:buFont typeface="Arial"/>
              <a:buChar char="•"/>
            </a:pPr>
            <a:r>
              <a:rPr lang="en-US" sz="2000" spc="-20">
                <a:solidFill>
                  <a:srgbClr val="274C4B"/>
                </a:solidFill>
                <a:latin typeface="Telegraf"/>
                <a:ea typeface="Telegraf"/>
                <a:cs typeface="Telegraf"/>
                <a:sym typeface="Telegraf"/>
              </a:rPr>
              <a:t>Integrate all 5-year client data into a unified dataset.</a:t>
            </a:r>
          </a:p>
          <a:p>
            <a:pPr marL="431801" lvl="1" indent="-215900" algn="l">
              <a:lnSpc>
                <a:spcPts val="2800"/>
              </a:lnSpc>
              <a:buFont typeface="Arial"/>
              <a:buChar char="•"/>
            </a:pPr>
            <a:r>
              <a:rPr lang="en-US" sz="2000" spc="-20">
                <a:solidFill>
                  <a:srgbClr val="274C4B"/>
                </a:solidFill>
                <a:latin typeface="Telegraf"/>
                <a:ea typeface="Telegraf"/>
                <a:cs typeface="Telegraf"/>
                <a:sym typeface="Telegraf"/>
              </a:rPr>
              <a:t>Deploy the machine learning scoring pipeline to enhance analytical capabilities.</a:t>
            </a:r>
          </a:p>
          <a:p>
            <a:pPr marL="431801" lvl="1" indent="-215900" algn="l">
              <a:lnSpc>
                <a:spcPts val="2800"/>
              </a:lnSpc>
              <a:buFont typeface="Arial"/>
              <a:buChar char="•"/>
            </a:pPr>
            <a:r>
              <a:rPr lang="en-US" sz="2000" spc="-20">
                <a:solidFill>
                  <a:srgbClr val="274C4B"/>
                </a:solidFill>
                <a:latin typeface="Telegraf"/>
                <a:ea typeface="Telegraf"/>
                <a:cs typeface="Telegraf"/>
                <a:sym typeface="Telegraf"/>
              </a:rPr>
              <a:t>Add the LLM layer utilizing LangChain for improved reasoning and reporting.</a:t>
            </a:r>
          </a:p>
          <a:p>
            <a:pPr marL="431801" lvl="1" indent="-215900" algn="l">
              <a:lnSpc>
                <a:spcPts val="2800"/>
              </a:lnSpc>
              <a:buFont typeface="Arial"/>
              <a:buChar char="•"/>
            </a:pPr>
            <a:r>
              <a:rPr lang="en-US" sz="2000" spc="-20">
                <a:solidFill>
                  <a:srgbClr val="274C4B"/>
                </a:solidFill>
                <a:latin typeface="Telegraf"/>
                <a:ea typeface="Telegraf"/>
                <a:cs typeface="Telegraf"/>
                <a:sym typeface="Telegraf"/>
              </a:rPr>
              <a:t>Build a visualization dashboard using Streamlit or Power BI to present insights effectively.</a:t>
            </a:r>
          </a:p>
          <a:p>
            <a:pPr marL="431801" lvl="1" indent="-215900" algn="l">
              <a:lnSpc>
                <a:spcPts val="2800"/>
              </a:lnSpc>
              <a:buFont typeface="Arial"/>
              <a:buChar char="•"/>
            </a:pPr>
            <a:r>
              <a:rPr lang="en-US" sz="2000" spc="-20">
                <a:solidFill>
                  <a:srgbClr val="274C4B"/>
                </a:solidFill>
                <a:latin typeface="Telegraf"/>
                <a:ea typeface="Telegraf"/>
                <a:cs typeface="Telegraf"/>
                <a:sym typeface="Telegraf"/>
              </a:rPr>
              <a:t>Pilot the implementation within one specific business vertical to refine the approach and gather feedback.</a:t>
            </a:r>
          </a:p>
          <a:p>
            <a:pPr marL="0" lvl="0" indent="0" algn="l">
              <a:lnSpc>
                <a:spcPts val="2800"/>
              </a:lnSpc>
            </a:pPr>
            <a:r>
              <a:rPr lang="en-US" sz="2000" spc="-20">
                <a:solidFill>
                  <a:srgbClr val="274C4B"/>
                </a:solidFill>
                <a:latin typeface="Telegraf"/>
                <a:ea typeface="Telegraf"/>
                <a:cs typeface="Telegraf"/>
                <a:sym typeface="Telegraf"/>
              </a:rPr>
              <a:t>These steps will ensure that we leverage our historical data effectively while establishing a robust infrastructure for AI-driven insights. Continuous evaluation during this phase will provide essential learnings that can guide future expansions across other business areas.</a:t>
            </a:r>
          </a:p>
        </p:txBody>
      </p:sp>
      <p:sp>
        <p:nvSpPr>
          <p:cNvPr id="6" name="AutoShape 6"/>
          <p:cNvSpPr/>
          <p:nvPr/>
        </p:nvSpPr>
        <p:spPr>
          <a:xfrm>
            <a:off x="666750" y="9620250"/>
            <a:ext cx="16954500" cy="0"/>
          </a:xfrm>
          <a:prstGeom prst="line">
            <a:avLst/>
          </a:prstGeom>
          <a:ln w="9525" cap="flat">
            <a:solidFill>
              <a:srgbClr val="004B40"/>
            </a:solidFill>
            <a:prstDash val="solid"/>
            <a:headEnd type="none" w="sm" len="sm"/>
            <a:tailEnd type="none" w="sm" len="sm"/>
          </a:ln>
        </p:spPr>
      </p:sp>
      <p:sp>
        <p:nvSpPr>
          <p:cNvPr id="7" name="TextBox 7"/>
          <p:cNvSpPr txBox="1"/>
          <p:nvPr/>
        </p:nvSpPr>
        <p:spPr>
          <a:xfrm>
            <a:off x="666750" y="9676455"/>
            <a:ext cx="2571750" cy="217170"/>
          </a:xfrm>
          <a:prstGeom prst="rect">
            <a:avLst/>
          </a:prstGeom>
        </p:spPr>
        <p:txBody>
          <a:bodyPr lIns="0" tIns="0" rIns="0" bIns="0" rtlCol="0" anchor="t">
            <a:spAutoFit/>
          </a:bodyPr>
          <a:lstStyle/>
          <a:p>
            <a:pPr marL="0" lvl="0" indent="0" algn="l">
              <a:lnSpc>
                <a:spcPts val="1679"/>
              </a:lnSpc>
              <a:spcBef>
                <a:spcPct val="0"/>
              </a:spcBef>
            </a:pPr>
            <a:r>
              <a:rPr lang="en-US" sz="1200" b="1" spc="-12">
                <a:solidFill>
                  <a:srgbClr val="274C4B"/>
                </a:solidFill>
                <a:latin typeface="Telegraf Bold"/>
                <a:ea typeface="Telegraf Bold"/>
                <a:cs typeface="Telegraf Bold"/>
                <a:sym typeface="Telegraf Bold"/>
              </a:rPr>
              <a:t>IMPLEMENTATION NOTES</a:t>
            </a:r>
          </a:p>
        </p:txBody>
      </p:sp>
      <p:sp>
        <p:nvSpPr>
          <p:cNvPr id="8" name="TextBox 8"/>
          <p:cNvSpPr txBox="1"/>
          <p:nvPr/>
        </p:nvSpPr>
        <p:spPr>
          <a:xfrm>
            <a:off x="17415597" y="9676442"/>
            <a:ext cx="152400" cy="190500"/>
          </a:xfrm>
          <a:prstGeom prst="rect">
            <a:avLst/>
          </a:prstGeom>
        </p:spPr>
        <p:txBody>
          <a:bodyPr wrap="none" lIns="0" tIns="0" rIns="0" bIns="0" rtlCol="0" anchor="t">
            <a:spAutoFit/>
          </a:bodyPr>
          <a:lstStyle/>
          <a:p>
            <a:pPr marL="0" lvl="0" indent="0" algn="r">
              <a:lnSpc>
                <a:spcPts val="1679"/>
              </a:lnSpc>
              <a:spcBef>
                <a:spcPct val="0"/>
              </a:spcBef>
            </a:pPr>
            <a:r>
              <a:rPr lang="en-US" sz="1200" b="1">
                <a:solidFill>
                  <a:srgbClr val="274C4B"/>
                </a:solidFill>
                <a:latin typeface="Telegraf Bold"/>
                <a:ea typeface="Telegraf Bold"/>
                <a:cs typeface="Telegraf Bold"/>
                <a:sym typeface="Telegraf Bold"/>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6750" y="666750"/>
            <a:ext cx="6886575" cy="1885592"/>
            <a:chOff x="0" y="0"/>
            <a:chExt cx="9182100" cy="2514123"/>
          </a:xfrm>
        </p:grpSpPr>
        <p:sp>
          <p:nvSpPr>
            <p:cNvPr id="3" name="TextBox 3"/>
            <p:cNvSpPr txBox="1"/>
            <p:nvPr/>
          </p:nvSpPr>
          <p:spPr>
            <a:xfrm>
              <a:off x="0" y="-9525"/>
              <a:ext cx="9182100" cy="1423458"/>
            </a:xfrm>
            <a:prstGeom prst="rect">
              <a:avLst/>
            </a:prstGeom>
          </p:spPr>
          <p:txBody>
            <a:bodyPr lIns="0" tIns="0" rIns="0" bIns="0" rtlCol="0" anchor="t">
              <a:spAutoFit/>
            </a:bodyPr>
            <a:lstStyle/>
            <a:p>
              <a:pPr marL="0" lvl="0" indent="0" algn="l">
                <a:lnSpc>
                  <a:spcPts val="7699"/>
                </a:lnSpc>
              </a:pPr>
              <a:r>
                <a:rPr lang="en-US" sz="6999" b="1" spc="-69">
                  <a:solidFill>
                    <a:srgbClr val="004B40"/>
                  </a:solidFill>
                  <a:latin typeface="Telegraf Bold"/>
                  <a:ea typeface="Telegraf Bold"/>
                  <a:cs typeface="Telegraf Bold"/>
                  <a:sym typeface="Telegraf Bold"/>
                </a:rPr>
                <a:t>Appendix</a:t>
              </a:r>
            </a:p>
          </p:txBody>
        </p:sp>
        <p:sp>
          <p:nvSpPr>
            <p:cNvPr id="4" name="TextBox 4"/>
            <p:cNvSpPr txBox="1"/>
            <p:nvPr/>
          </p:nvSpPr>
          <p:spPr>
            <a:xfrm>
              <a:off x="0" y="1885473"/>
              <a:ext cx="9182100" cy="628650"/>
            </a:xfrm>
            <a:prstGeom prst="rect">
              <a:avLst/>
            </a:prstGeom>
          </p:spPr>
          <p:txBody>
            <a:bodyPr lIns="0" tIns="0" rIns="0" bIns="0" rtlCol="0" anchor="t">
              <a:spAutoFit/>
            </a:bodyPr>
            <a:lstStyle/>
            <a:p>
              <a:pPr marL="0" lvl="0" indent="0" algn="l">
                <a:lnSpc>
                  <a:spcPts val="3300"/>
                </a:lnSpc>
              </a:pPr>
              <a:r>
                <a:rPr lang="en-US" sz="3000" b="1" spc="-30">
                  <a:solidFill>
                    <a:srgbClr val="007D75"/>
                  </a:solidFill>
                  <a:latin typeface="Telegraf Bold"/>
                  <a:ea typeface="Telegraf Bold"/>
                  <a:cs typeface="Telegraf Bold"/>
                  <a:sym typeface="Telegraf Bold"/>
                </a:rPr>
                <a:t>Additional Resources and Visuals</a:t>
              </a:r>
            </a:p>
          </p:txBody>
        </p:sp>
      </p:grpSp>
      <p:sp>
        <p:nvSpPr>
          <p:cNvPr id="5" name="TextBox 5"/>
          <p:cNvSpPr txBox="1"/>
          <p:nvPr/>
        </p:nvSpPr>
        <p:spPr>
          <a:xfrm>
            <a:off x="9296400" y="590550"/>
            <a:ext cx="8324850" cy="5311775"/>
          </a:xfrm>
          <a:prstGeom prst="rect">
            <a:avLst/>
          </a:prstGeom>
        </p:spPr>
        <p:txBody>
          <a:bodyPr lIns="0" tIns="0" rIns="0" bIns="0" rtlCol="0" anchor="t">
            <a:spAutoFit/>
          </a:bodyPr>
          <a:lstStyle/>
          <a:p>
            <a:pPr marL="0" lvl="0" indent="0" algn="l">
              <a:lnSpc>
                <a:spcPts val="2800"/>
              </a:lnSpc>
            </a:pPr>
            <a:r>
              <a:rPr lang="en-US" sz="2000" spc="-20">
                <a:solidFill>
                  <a:srgbClr val="274C4B"/>
                </a:solidFill>
                <a:latin typeface="Telegraf"/>
                <a:ea typeface="Telegraf"/>
                <a:cs typeface="Telegraf"/>
                <a:sym typeface="Telegraf"/>
              </a:rPr>
              <a:t>This appendix includes critical insights and visualizations to support our audit intelligence initiative:</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Exposure vs Collateral Coverage Heatmap</a:t>
            </a:r>
            <a:r>
              <a:rPr lang="en-US" sz="2000" spc="-20">
                <a:solidFill>
                  <a:srgbClr val="274C4B"/>
                </a:solidFill>
                <a:latin typeface="Telegraf"/>
                <a:ea typeface="Telegraf"/>
                <a:cs typeface="Telegraf"/>
                <a:sym typeface="Telegraf"/>
              </a:rPr>
              <a:t>: Visual representation of client exposure against collateral levels, highlighting potential risk areas.</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Cluster Distribution</a:t>
            </a:r>
            <a:r>
              <a:rPr lang="en-US" sz="2000" spc="-20">
                <a:solidFill>
                  <a:srgbClr val="274C4B"/>
                </a:solidFill>
                <a:latin typeface="Telegraf"/>
                <a:ea typeface="Telegraf"/>
                <a:cs typeface="Telegraf"/>
                <a:sym typeface="Telegraf"/>
              </a:rPr>
              <a:t>: Analysis of client segmentation based on risk profiles, assisting in targeted interventions.</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SHAP Explainability Chart</a:t>
            </a:r>
            <a:r>
              <a:rPr lang="en-US" sz="2000" spc="-20">
                <a:solidFill>
                  <a:srgbClr val="274C4B"/>
                </a:solidFill>
                <a:latin typeface="Telegraf"/>
                <a:ea typeface="Telegraf"/>
                <a:cs typeface="Telegraf"/>
                <a:sym typeface="Telegraf"/>
              </a:rPr>
              <a:t>: Breakdown of model predictions to improve transparency and trust in AI recommendations.</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Architecture Flow Diagram</a:t>
            </a:r>
            <a:r>
              <a:rPr lang="en-US" sz="2000" spc="-20">
                <a:solidFill>
                  <a:srgbClr val="274C4B"/>
                </a:solidFill>
                <a:latin typeface="Telegraf"/>
                <a:ea typeface="Telegraf"/>
                <a:cs typeface="Telegraf"/>
                <a:sym typeface="Telegraf"/>
              </a:rPr>
              <a:t>: Overview of the system architecture, illustrating data flows and component interactions.</a:t>
            </a:r>
          </a:p>
          <a:p>
            <a:pPr marL="431801" lvl="1" indent="-215900" algn="l">
              <a:lnSpc>
                <a:spcPts val="2800"/>
              </a:lnSpc>
              <a:buFont typeface="Arial"/>
              <a:buChar char="•"/>
            </a:pPr>
            <a:r>
              <a:rPr lang="en-US" sz="2000" spc="-20">
                <a:solidFill>
                  <a:srgbClr val="274C4B"/>
                </a:solidFill>
                <a:latin typeface="Telegraf"/>
                <a:ea typeface="Telegraf"/>
                <a:cs typeface="Telegraf"/>
                <a:sym typeface="Telegraf"/>
              </a:rPr>
              <a:t>These resources are essential for understanding the data-driven insights and the structural backbone of the AI/ML-driven platform, ultimately assisting in enhancing audit processes and decision-making capabilities.</a:t>
            </a:r>
          </a:p>
        </p:txBody>
      </p:sp>
      <p:sp>
        <p:nvSpPr>
          <p:cNvPr id="6" name="AutoShape 6"/>
          <p:cNvSpPr/>
          <p:nvPr/>
        </p:nvSpPr>
        <p:spPr>
          <a:xfrm>
            <a:off x="666750" y="9620250"/>
            <a:ext cx="16954500" cy="0"/>
          </a:xfrm>
          <a:prstGeom prst="line">
            <a:avLst/>
          </a:prstGeom>
          <a:ln w="9525" cap="flat">
            <a:solidFill>
              <a:srgbClr val="004B40"/>
            </a:solidFill>
            <a:prstDash val="solid"/>
            <a:headEnd type="none" w="sm" len="sm"/>
            <a:tailEnd type="none" w="sm" len="sm"/>
          </a:ln>
        </p:spPr>
      </p:sp>
      <p:sp>
        <p:nvSpPr>
          <p:cNvPr id="7" name="TextBox 7"/>
          <p:cNvSpPr txBox="1"/>
          <p:nvPr/>
        </p:nvSpPr>
        <p:spPr>
          <a:xfrm>
            <a:off x="666750" y="9676455"/>
            <a:ext cx="2571750" cy="217170"/>
          </a:xfrm>
          <a:prstGeom prst="rect">
            <a:avLst/>
          </a:prstGeom>
        </p:spPr>
        <p:txBody>
          <a:bodyPr lIns="0" tIns="0" rIns="0" bIns="0" rtlCol="0" anchor="t">
            <a:spAutoFit/>
          </a:bodyPr>
          <a:lstStyle/>
          <a:p>
            <a:pPr marL="0" lvl="0" indent="0" algn="l">
              <a:lnSpc>
                <a:spcPts val="1679"/>
              </a:lnSpc>
              <a:spcBef>
                <a:spcPct val="0"/>
              </a:spcBef>
            </a:pPr>
            <a:r>
              <a:rPr lang="en-US" sz="1200" b="1" spc="-12">
                <a:solidFill>
                  <a:srgbClr val="274C4B"/>
                </a:solidFill>
                <a:latin typeface="Telegraf Bold"/>
                <a:ea typeface="Telegraf Bold"/>
                <a:cs typeface="Telegraf Bold"/>
                <a:sym typeface="Telegraf Bold"/>
              </a:rPr>
              <a:t>NOTES AND REFERENCES</a:t>
            </a:r>
          </a:p>
        </p:txBody>
      </p:sp>
      <p:sp>
        <p:nvSpPr>
          <p:cNvPr id="8" name="TextBox 8"/>
          <p:cNvSpPr txBox="1"/>
          <p:nvPr/>
        </p:nvSpPr>
        <p:spPr>
          <a:xfrm>
            <a:off x="17415597" y="9676442"/>
            <a:ext cx="152400" cy="190500"/>
          </a:xfrm>
          <a:prstGeom prst="rect">
            <a:avLst/>
          </a:prstGeom>
        </p:spPr>
        <p:txBody>
          <a:bodyPr wrap="none" lIns="0" tIns="0" rIns="0" bIns="0" rtlCol="0" anchor="t">
            <a:spAutoFit/>
          </a:bodyPr>
          <a:lstStyle/>
          <a:p>
            <a:pPr marL="0" lvl="0" indent="0" algn="r">
              <a:lnSpc>
                <a:spcPts val="1679"/>
              </a:lnSpc>
              <a:spcBef>
                <a:spcPct val="0"/>
              </a:spcBef>
            </a:pPr>
            <a:r>
              <a:rPr lang="en-US" sz="1200" b="1">
                <a:solidFill>
                  <a:srgbClr val="274C4B"/>
                </a:solidFill>
                <a:latin typeface="Telegraf Bold"/>
                <a:ea typeface="Telegraf Bold"/>
                <a:cs typeface="Telegraf Bold"/>
                <a:sym typeface="Telegraf Bold"/>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6750" y="666750"/>
            <a:ext cx="6886575" cy="4247792"/>
            <a:chOff x="0" y="0"/>
            <a:chExt cx="9182100" cy="5663723"/>
          </a:xfrm>
        </p:grpSpPr>
        <p:sp>
          <p:nvSpPr>
            <p:cNvPr id="3" name="TextBox 3"/>
            <p:cNvSpPr txBox="1"/>
            <p:nvPr/>
          </p:nvSpPr>
          <p:spPr>
            <a:xfrm>
              <a:off x="0" y="-9525"/>
              <a:ext cx="9182100" cy="4014258"/>
            </a:xfrm>
            <a:prstGeom prst="rect">
              <a:avLst/>
            </a:prstGeom>
          </p:spPr>
          <p:txBody>
            <a:bodyPr lIns="0" tIns="0" rIns="0" bIns="0" rtlCol="0" anchor="t">
              <a:spAutoFit/>
            </a:bodyPr>
            <a:lstStyle/>
            <a:p>
              <a:pPr marL="0" lvl="0" indent="0" algn="l">
                <a:lnSpc>
                  <a:spcPts val="7699"/>
                </a:lnSpc>
              </a:pPr>
              <a:r>
                <a:rPr lang="en-US" sz="6999" b="1" spc="-69">
                  <a:solidFill>
                    <a:srgbClr val="004B40"/>
                  </a:solidFill>
                  <a:latin typeface="Telegraf Bold"/>
                  <a:ea typeface="Telegraf Bold"/>
                  <a:cs typeface="Telegraf Bold"/>
                  <a:sym typeface="Telegraf Bold"/>
                </a:rPr>
                <a:t>Credit &amp; Exposure Insights</a:t>
              </a:r>
            </a:p>
          </p:txBody>
        </p:sp>
        <p:sp>
          <p:nvSpPr>
            <p:cNvPr id="4" name="TextBox 4"/>
            <p:cNvSpPr txBox="1"/>
            <p:nvPr/>
          </p:nvSpPr>
          <p:spPr>
            <a:xfrm>
              <a:off x="0" y="4476273"/>
              <a:ext cx="9182100" cy="1187450"/>
            </a:xfrm>
            <a:prstGeom prst="rect">
              <a:avLst/>
            </a:prstGeom>
          </p:spPr>
          <p:txBody>
            <a:bodyPr lIns="0" tIns="0" rIns="0" bIns="0" rtlCol="0" anchor="t">
              <a:spAutoFit/>
            </a:bodyPr>
            <a:lstStyle/>
            <a:p>
              <a:pPr marL="0" lvl="0" indent="0" algn="l">
                <a:lnSpc>
                  <a:spcPts val="3300"/>
                </a:lnSpc>
              </a:pPr>
              <a:r>
                <a:rPr lang="en-US" sz="3000" b="1" spc="-30">
                  <a:solidFill>
                    <a:srgbClr val="007D75"/>
                  </a:solidFill>
                  <a:latin typeface="Telegraf Bold"/>
                  <a:ea typeface="Telegraf Bold"/>
                  <a:cs typeface="Telegraf Bold"/>
                  <a:sym typeface="Telegraf Bold"/>
                </a:rPr>
                <a:t>Identifying risks and optimizing collateral</a:t>
              </a:r>
            </a:p>
          </p:txBody>
        </p:sp>
      </p:grpSp>
      <p:sp>
        <p:nvSpPr>
          <p:cNvPr id="5" name="TextBox 5"/>
          <p:cNvSpPr txBox="1"/>
          <p:nvPr/>
        </p:nvSpPr>
        <p:spPr>
          <a:xfrm>
            <a:off x="9296400" y="590550"/>
            <a:ext cx="8324850" cy="5664200"/>
          </a:xfrm>
          <a:prstGeom prst="rect">
            <a:avLst/>
          </a:prstGeom>
        </p:spPr>
        <p:txBody>
          <a:bodyPr lIns="0" tIns="0" rIns="0" bIns="0" rtlCol="0" anchor="t">
            <a:spAutoFit/>
          </a:bodyPr>
          <a:lstStyle/>
          <a:p>
            <a:pPr marL="0" lvl="0" indent="0" algn="l">
              <a:lnSpc>
                <a:spcPts val="2800"/>
              </a:lnSpc>
            </a:pPr>
            <a:r>
              <a:rPr lang="en-US" sz="2000" spc="-20">
                <a:solidFill>
                  <a:srgbClr val="274C4B"/>
                </a:solidFill>
                <a:latin typeface="Telegraf"/>
                <a:ea typeface="Telegraf"/>
                <a:cs typeface="Telegraf"/>
                <a:sym typeface="Telegraf"/>
              </a:rPr>
              <a:t>In the context of credit and exposure management, this use case focuses on three key areas:</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Identify under-collateralized clients</a:t>
            </a:r>
            <a:r>
              <a:rPr lang="en-US" sz="2000" spc="-20">
                <a:solidFill>
                  <a:srgbClr val="274C4B"/>
                </a:solidFill>
                <a:latin typeface="Telegraf"/>
                <a:ea typeface="Telegraf"/>
                <a:cs typeface="Telegraf"/>
                <a:sym typeface="Telegraf"/>
              </a:rPr>
              <a:t>: Leverage AI and ML techniques to analyze client portfolios and detect instances where collateral does not adequately cover exposures.</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Predict shortfall risks</a:t>
            </a:r>
            <a:r>
              <a:rPr lang="en-US" sz="2000" spc="-20">
                <a:solidFill>
                  <a:srgbClr val="274C4B"/>
                </a:solidFill>
                <a:latin typeface="Telegraf"/>
                <a:ea typeface="Telegraf"/>
                <a:cs typeface="Telegraf"/>
                <a:sym typeface="Telegraf"/>
              </a:rPr>
              <a:t>: Utilize predictive analytics to forecast potential shortfalls in collateral, enabling proactive measures to mitigate risk before it escalates.</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Quantify stress scenarios</a:t>
            </a:r>
            <a:r>
              <a:rPr lang="en-US" sz="2000" spc="-20">
                <a:solidFill>
                  <a:srgbClr val="274C4B"/>
                </a:solidFill>
                <a:latin typeface="Telegraf"/>
                <a:ea typeface="Telegraf"/>
                <a:cs typeface="Telegraf"/>
                <a:sym typeface="Telegraf"/>
              </a:rPr>
              <a:t>: Implement haircut simulations to assess the impact of adverse market conditions on collateral values, providing insights into necessary adjustments and strategic responses.</a:t>
            </a:r>
          </a:p>
          <a:p>
            <a:pPr marL="0" lvl="0" indent="0" algn="l">
              <a:lnSpc>
                <a:spcPts val="2800"/>
              </a:lnSpc>
            </a:pPr>
            <a:r>
              <a:rPr lang="en-US" sz="2000" spc="-20">
                <a:solidFill>
                  <a:srgbClr val="274C4B"/>
                </a:solidFill>
                <a:latin typeface="Telegraf"/>
                <a:ea typeface="Telegraf"/>
                <a:cs typeface="Telegraf"/>
                <a:sym typeface="Telegraf"/>
              </a:rPr>
              <a:t>By addressing these areas, Standard Chartered Bank can enhance its risk management capabilities, ensuring that clients remain compliant while optimizing capital utilization and maintaining robust financial health.</a:t>
            </a:r>
          </a:p>
        </p:txBody>
      </p:sp>
      <p:sp>
        <p:nvSpPr>
          <p:cNvPr id="6" name="AutoShape 6"/>
          <p:cNvSpPr/>
          <p:nvPr/>
        </p:nvSpPr>
        <p:spPr>
          <a:xfrm>
            <a:off x="666750" y="9620250"/>
            <a:ext cx="16954500" cy="0"/>
          </a:xfrm>
          <a:prstGeom prst="line">
            <a:avLst/>
          </a:prstGeom>
          <a:ln w="9525" cap="flat">
            <a:solidFill>
              <a:srgbClr val="004B40"/>
            </a:solidFill>
            <a:prstDash val="solid"/>
            <a:headEnd type="none" w="sm" len="sm"/>
            <a:tailEnd type="none" w="sm" len="sm"/>
          </a:ln>
        </p:spPr>
      </p:sp>
      <p:sp>
        <p:nvSpPr>
          <p:cNvPr id="7" name="TextBox 7"/>
          <p:cNvSpPr txBox="1"/>
          <p:nvPr/>
        </p:nvSpPr>
        <p:spPr>
          <a:xfrm>
            <a:off x="666750" y="9676455"/>
            <a:ext cx="2571750" cy="217170"/>
          </a:xfrm>
          <a:prstGeom prst="rect">
            <a:avLst/>
          </a:prstGeom>
        </p:spPr>
        <p:txBody>
          <a:bodyPr lIns="0" tIns="0" rIns="0" bIns="0" rtlCol="0" anchor="t">
            <a:spAutoFit/>
          </a:bodyPr>
          <a:lstStyle/>
          <a:p>
            <a:pPr marL="0" lvl="0" indent="0" algn="l">
              <a:lnSpc>
                <a:spcPts val="1679"/>
              </a:lnSpc>
              <a:spcBef>
                <a:spcPct val="0"/>
              </a:spcBef>
            </a:pPr>
            <a:r>
              <a:rPr lang="en-US" sz="1200" b="1" spc="-12">
                <a:solidFill>
                  <a:srgbClr val="274C4B"/>
                </a:solidFill>
                <a:latin typeface="Telegraf Bold"/>
                <a:ea typeface="Telegraf Bold"/>
                <a:cs typeface="Telegraf Bold"/>
                <a:sym typeface="Telegraf Bold"/>
              </a:rPr>
              <a:t>KEY TAKEAWAYS</a:t>
            </a:r>
          </a:p>
        </p:txBody>
      </p:sp>
      <p:sp>
        <p:nvSpPr>
          <p:cNvPr id="8" name="TextBox 8"/>
          <p:cNvSpPr txBox="1"/>
          <p:nvPr/>
        </p:nvSpPr>
        <p:spPr>
          <a:xfrm>
            <a:off x="17415597" y="9676442"/>
            <a:ext cx="152400" cy="190500"/>
          </a:xfrm>
          <a:prstGeom prst="rect">
            <a:avLst/>
          </a:prstGeom>
        </p:spPr>
        <p:txBody>
          <a:bodyPr wrap="none" lIns="0" tIns="0" rIns="0" bIns="0" rtlCol="0" anchor="t">
            <a:spAutoFit/>
          </a:bodyPr>
          <a:lstStyle/>
          <a:p>
            <a:pPr marL="0" lvl="0" indent="0" algn="r">
              <a:lnSpc>
                <a:spcPts val="1679"/>
              </a:lnSpc>
              <a:spcBef>
                <a:spcPct val="0"/>
              </a:spcBef>
            </a:pPr>
            <a:r>
              <a:rPr lang="en-US" sz="1200" b="1">
                <a:solidFill>
                  <a:srgbClr val="274C4B"/>
                </a:solidFill>
                <a:latin typeface="Telegraf Bold"/>
                <a:ea typeface="Telegraf Bold"/>
                <a:cs typeface="Telegraf Bold"/>
                <a:sym typeface="Telegraf Bold"/>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6750" y="666750"/>
            <a:ext cx="6886575" cy="2857142"/>
            <a:chOff x="0" y="0"/>
            <a:chExt cx="9182100" cy="3809523"/>
          </a:xfrm>
        </p:grpSpPr>
        <p:sp>
          <p:nvSpPr>
            <p:cNvPr id="3" name="TextBox 3"/>
            <p:cNvSpPr txBox="1"/>
            <p:nvPr/>
          </p:nvSpPr>
          <p:spPr>
            <a:xfrm>
              <a:off x="0" y="-9525"/>
              <a:ext cx="9182100" cy="2718858"/>
            </a:xfrm>
            <a:prstGeom prst="rect">
              <a:avLst/>
            </a:prstGeom>
          </p:spPr>
          <p:txBody>
            <a:bodyPr lIns="0" tIns="0" rIns="0" bIns="0" rtlCol="0" anchor="t">
              <a:spAutoFit/>
            </a:bodyPr>
            <a:lstStyle/>
            <a:p>
              <a:pPr marL="0" lvl="0" indent="0" algn="l">
                <a:lnSpc>
                  <a:spcPts val="7699"/>
                </a:lnSpc>
              </a:pPr>
              <a:r>
                <a:rPr lang="en-US" sz="6999" b="1" spc="-69">
                  <a:solidFill>
                    <a:srgbClr val="004B40"/>
                  </a:solidFill>
                  <a:latin typeface="Telegraf Bold"/>
                  <a:ea typeface="Telegraf Bold"/>
                  <a:cs typeface="Telegraf Bold"/>
                  <a:sym typeface="Telegraf Bold"/>
                </a:rPr>
                <a:t>Audit Exception Insights</a:t>
              </a:r>
            </a:p>
          </p:txBody>
        </p:sp>
        <p:sp>
          <p:nvSpPr>
            <p:cNvPr id="4" name="TextBox 4"/>
            <p:cNvSpPr txBox="1"/>
            <p:nvPr/>
          </p:nvSpPr>
          <p:spPr>
            <a:xfrm>
              <a:off x="0" y="3180873"/>
              <a:ext cx="9182100" cy="628650"/>
            </a:xfrm>
            <a:prstGeom prst="rect">
              <a:avLst/>
            </a:prstGeom>
          </p:spPr>
          <p:txBody>
            <a:bodyPr lIns="0" tIns="0" rIns="0" bIns="0" rtlCol="0" anchor="t">
              <a:spAutoFit/>
            </a:bodyPr>
            <a:lstStyle/>
            <a:p>
              <a:pPr marL="0" lvl="0" indent="0" algn="l">
                <a:lnSpc>
                  <a:spcPts val="3300"/>
                </a:lnSpc>
              </a:pPr>
              <a:r>
                <a:rPr lang="en-US" sz="3000" b="1" spc="-30">
                  <a:solidFill>
                    <a:srgbClr val="007D75"/>
                  </a:solidFill>
                  <a:latin typeface="Telegraf Bold"/>
                  <a:ea typeface="Telegraf Bold"/>
                  <a:cs typeface="Telegraf Bold"/>
                  <a:sym typeface="Telegraf Bold"/>
                </a:rPr>
                <a:t>Detecting and Classifying Anomalies</a:t>
              </a:r>
            </a:p>
          </p:txBody>
        </p:sp>
      </p:grpSp>
      <p:sp>
        <p:nvSpPr>
          <p:cNvPr id="5" name="TextBox 5"/>
          <p:cNvSpPr txBox="1"/>
          <p:nvPr/>
        </p:nvSpPr>
        <p:spPr>
          <a:xfrm>
            <a:off x="9296400" y="590550"/>
            <a:ext cx="8324850" cy="4959350"/>
          </a:xfrm>
          <a:prstGeom prst="rect">
            <a:avLst/>
          </a:prstGeom>
        </p:spPr>
        <p:txBody>
          <a:bodyPr lIns="0" tIns="0" rIns="0" bIns="0" rtlCol="0" anchor="t">
            <a:spAutoFit/>
          </a:bodyPr>
          <a:lstStyle/>
          <a:p>
            <a:pPr marL="0" lvl="0" indent="0" algn="l">
              <a:lnSpc>
                <a:spcPts val="2800"/>
              </a:lnSpc>
            </a:pPr>
            <a:r>
              <a:rPr lang="en-US" sz="2000" spc="-20">
                <a:solidFill>
                  <a:srgbClr val="274C4B"/>
                </a:solidFill>
                <a:latin typeface="Telegraf"/>
                <a:ea typeface="Telegraf"/>
                <a:cs typeface="Telegraf"/>
                <a:sym typeface="Telegraf"/>
              </a:rPr>
              <a:t>The Audit Exception Intelligence use case focuses on identifying patterns of </a:t>
            </a:r>
            <a:r>
              <a:rPr lang="en-US" sz="2000" b="1" spc="-20">
                <a:solidFill>
                  <a:srgbClr val="274C4B"/>
                </a:solidFill>
                <a:latin typeface="Telegraf Bold"/>
                <a:ea typeface="Telegraf Bold"/>
                <a:cs typeface="Telegraf Bold"/>
                <a:sym typeface="Telegraf Bold"/>
              </a:rPr>
              <a:t>repetitive audit exceptions</a:t>
            </a:r>
            <a:r>
              <a:rPr lang="en-US" sz="2000" spc="-20">
                <a:solidFill>
                  <a:srgbClr val="274C4B"/>
                </a:solidFill>
                <a:latin typeface="Telegraf"/>
                <a:ea typeface="Telegraf"/>
                <a:cs typeface="Telegraf"/>
                <a:sym typeface="Telegraf"/>
              </a:rPr>
              <a:t> that can indicate systemic issues. By employing advanced algorithms, our system can:</a:t>
            </a:r>
          </a:p>
          <a:p>
            <a:pPr marL="431801" lvl="1" indent="-215900" algn="l">
              <a:lnSpc>
                <a:spcPts val="2800"/>
              </a:lnSpc>
              <a:buFont typeface="Arial"/>
              <a:buChar char="•"/>
            </a:pPr>
            <a:r>
              <a:rPr lang="en-US" sz="2000" spc="-20">
                <a:solidFill>
                  <a:srgbClr val="274C4B"/>
                </a:solidFill>
                <a:latin typeface="Telegraf"/>
                <a:ea typeface="Telegraf"/>
                <a:cs typeface="Telegraf"/>
                <a:sym typeface="Telegraf"/>
              </a:rPr>
              <a:t>Detect anomalies in audit processes</a:t>
            </a:r>
          </a:p>
          <a:p>
            <a:pPr marL="431801" lvl="1" indent="-215900" algn="l">
              <a:lnSpc>
                <a:spcPts val="2800"/>
              </a:lnSpc>
              <a:buFont typeface="Arial"/>
              <a:buChar char="•"/>
            </a:pPr>
            <a:r>
              <a:rPr lang="en-US" sz="2000" spc="-20">
                <a:solidFill>
                  <a:srgbClr val="274C4B"/>
                </a:solidFill>
                <a:latin typeface="Telegraf"/>
                <a:ea typeface="Telegraf"/>
                <a:cs typeface="Telegraf"/>
                <a:sym typeface="Telegraf"/>
              </a:rPr>
              <a:t>Classify exceptions based on severity levels</a:t>
            </a:r>
          </a:p>
          <a:p>
            <a:pPr marL="431801" lvl="1" indent="-215900" algn="l">
              <a:lnSpc>
                <a:spcPts val="2800"/>
              </a:lnSpc>
              <a:buFont typeface="Arial"/>
              <a:buChar char="•"/>
            </a:pPr>
            <a:r>
              <a:rPr lang="en-US" sz="2000" spc="-20">
                <a:solidFill>
                  <a:srgbClr val="274C4B"/>
                </a:solidFill>
                <a:latin typeface="Telegraf"/>
                <a:ea typeface="Telegraf"/>
                <a:cs typeface="Telegraf"/>
                <a:sym typeface="Telegraf"/>
              </a:rPr>
              <a:t>Generate plain-language explanations for each identified flag, making findings accessible to all stakeholders</a:t>
            </a:r>
          </a:p>
          <a:p>
            <a:pPr marL="0" lvl="0" indent="0" algn="l">
              <a:lnSpc>
                <a:spcPts val="2800"/>
              </a:lnSpc>
            </a:pPr>
            <a:r>
              <a:rPr lang="en-US" sz="2000" spc="-20">
                <a:solidFill>
                  <a:srgbClr val="274C4B"/>
                </a:solidFill>
                <a:latin typeface="Telegraf"/>
                <a:ea typeface="Telegraf"/>
                <a:cs typeface="Telegraf"/>
                <a:sym typeface="Telegraf"/>
              </a:rPr>
              <a:t>This approach not only streamlines the audit process but also enhances the accuracy of findings, allowing auditors to prioritize their efforts effectively. The proactive identification of exceptions ensures that potential issues are addressed before they escalate, significantly improving the overall audit quality and compliance. By leveraging these insights, auditors can foster a culture of </a:t>
            </a:r>
            <a:r>
              <a:rPr lang="en-US" sz="2000" b="1" spc="-20">
                <a:solidFill>
                  <a:srgbClr val="274C4B"/>
                </a:solidFill>
                <a:latin typeface="Telegraf Bold"/>
                <a:ea typeface="Telegraf Bold"/>
                <a:cs typeface="Telegraf Bold"/>
                <a:sym typeface="Telegraf Bold"/>
              </a:rPr>
              <a:t>continuous improvement</a:t>
            </a:r>
            <a:r>
              <a:rPr lang="en-US" sz="2000" spc="-20">
                <a:solidFill>
                  <a:srgbClr val="274C4B"/>
                </a:solidFill>
                <a:latin typeface="Telegraf"/>
                <a:ea typeface="Telegraf"/>
                <a:cs typeface="Telegraf"/>
                <a:sym typeface="Telegraf"/>
              </a:rPr>
              <a:t> and transparency within the organization.</a:t>
            </a:r>
          </a:p>
        </p:txBody>
      </p:sp>
      <p:sp>
        <p:nvSpPr>
          <p:cNvPr id="6" name="AutoShape 6"/>
          <p:cNvSpPr/>
          <p:nvPr/>
        </p:nvSpPr>
        <p:spPr>
          <a:xfrm>
            <a:off x="666750" y="9620250"/>
            <a:ext cx="16954500" cy="0"/>
          </a:xfrm>
          <a:prstGeom prst="line">
            <a:avLst/>
          </a:prstGeom>
          <a:ln w="9525" cap="flat">
            <a:solidFill>
              <a:srgbClr val="004B40"/>
            </a:solidFill>
            <a:prstDash val="solid"/>
            <a:headEnd type="none" w="sm" len="sm"/>
            <a:tailEnd type="none" w="sm" len="sm"/>
          </a:ln>
        </p:spPr>
      </p:sp>
      <p:sp>
        <p:nvSpPr>
          <p:cNvPr id="7" name="TextBox 7"/>
          <p:cNvSpPr txBox="1"/>
          <p:nvPr/>
        </p:nvSpPr>
        <p:spPr>
          <a:xfrm>
            <a:off x="666750" y="9676455"/>
            <a:ext cx="2571750" cy="217170"/>
          </a:xfrm>
          <a:prstGeom prst="rect">
            <a:avLst/>
          </a:prstGeom>
        </p:spPr>
        <p:txBody>
          <a:bodyPr lIns="0" tIns="0" rIns="0" bIns="0" rtlCol="0" anchor="t">
            <a:spAutoFit/>
          </a:bodyPr>
          <a:lstStyle/>
          <a:p>
            <a:pPr marL="0" lvl="0" indent="0" algn="l">
              <a:lnSpc>
                <a:spcPts val="1679"/>
              </a:lnSpc>
              <a:spcBef>
                <a:spcPct val="0"/>
              </a:spcBef>
            </a:pPr>
            <a:r>
              <a:rPr lang="en-US" sz="1200" b="1" spc="-12">
                <a:solidFill>
                  <a:srgbClr val="274C4B"/>
                </a:solidFill>
                <a:latin typeface="Telegraf Bold"/>
                <a:ea typeface="Telegraf Bold"/>
                <a:cs typeface="Telegraf Bold"/>
                <a:sym typeface="Telegraf Bold"/>
              </a:rPr>
              <a:t>KEY TAKEAWAYS</a:t>
            </a:r>
          </a:p>
        </p:txBody>
      </p:sp>
      <p:sp>
        <p:nvSpPr>
          <p:cNvPr id="8" name="TextBox 8"/>
          <p:cNvSpPr txBox="1"/>
          <p:nvPr/>
        </p:nvSpPr>
        <p:spPr>
          <a:xfrm>
            <a:off x="17415597" y="9676442"/>
            <a:ext cx="152400" cy="190500"/>
          </a:xfrm>
          <a:prstGeom prst="rect">
            <a:avLst/>
          </a:prstGeom>
        </p:spPr>
        <p:txBody>
          <a:bodyPr wrap="none" lIns="0" tIns="0" rIns="0" bIns="0" rtlCol="0" anchor="t">
            <a:spAutoFit/>
          </a:bodyPr>
          <a:lstStyle/>
          <a:p>
            <a:pPr marL="0" lvl="0" indent="0" algn="r">
              <a:lnSpc>
                <a:spcPts val="1679"/>
              </a:lnSpc>
              <a:spcBef>
                <a:spcPct val="0"/>
              </a:spcBef>
            </a:pPr>
            <a:r>
              <a:rPr lang="en-US" sz="1200" b="1">
                <a:solidFill>
                  <a:srgbClr val="274C4B"/>
                </a:solidFill>
                <a:latin typeface="Telegraf Bold"/>
                <a:ea typeface="Telegraf Bold"/>
                <a:cs typeface="Telegraf Bold"/>
                <a:sym typeface="Telegraf Bold"/>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6750" y="666750"/>
            <a:ext cx="6886575" cy="3276242"/>
            <a:chOff x="0" y="0"/>
            <a:chExt cx="9182100" cy="4368323"/>
          </a:xfrm>
        </p:grpSpPr>
        <p:sp>
          <p:nvSpPr>
            <p:cNvPr id="3" name="TextBox 3"/>
            <p:cNvSpPr txBox="1"/>
            <p:nvPr/>
          </p:nvSpPr>
          <p:spPr>
            <a:xfrm>
              <a:off x="0" y="-9525"/>
              <a:ext cx="9182100" cy="2718858"/>
            </a:xfrm>
            <a:prstGeom prst="rect">
              <a:avLst/>
            </a:prstGeom>
          </p:spPr>
          <p:txBody>
            <a:bodyPr lIns="0" tIns="0" rIns="0" bIns="0" rtlCol="0" anchor="t">
              <a:spAutoFit/>
            </a:bodyPr>
            <a:lstStyle/>
            <a:p>
              <a:pPr marL="0" lvl="0" indent="0" algn="l">
                <a:lnSpc>
                  <a:spcPts val="7699"/>
                </a:lnSpc>
              </a:pPr>
              <a:r>
                <a:rPr lang="en-US" sz="6999" b="1" spc="-69">
                  <a:solidFill>
                    <a:srgbClr val="004B40"/>
                  </a:solidFill>
                  <a:latin typeface="Telegraf Bold"/>
                  <a:ea typeface="Telegraf Bold"/>
                  <a:cs typeface="Telegraf Bold"/>
                  <a:sym typeface="Telegraf Bold"/>
                </a:rPr>
                <a:t>Custody Optimization</a:t>
              </a:r>
            </a:p>
          </p:txBody>
        </p:sp>
        <p:sp>
          <p:nvSpPr>
            <p:cNvPr id="4" name="TextBox 4"/>
            <p:cNvSpPr txBox="1"/>
            <p:nvPr/>
          </p:nvSpPr>
          <p:spPr>
            <a:xfrm>
              <a:off x="0" y="3180873"/>
              <a:ext cx="9182100" cy="1187450"/>
            </a:xfrm>
            <a:prstGeom prst="rect">
              <a:avLst/>
            </a:prstGeom>
          </p:spPr>
          <p:txBody>
            <a:bodyPr lIns="0" tIns="0" rIns="0" bIns="0" rtlCol="0" anchor="t">
              <a:spAutoFit/>
            </a:bodyPr>
            <a:lstStyle/>
            <a:p>
              <a:pPr marL="0" lvl="0" indent="0" algn="l">
                <a:lnSpc>
                  <a:spcPts val="3300"/>
                </a:lnSpc>
              </a:pPr>
              <a:r>
                <a:rPr lang="en-US" sz="3000" b="1" spc="-30">
                  <a:solidFill>
                    <a:srgbClr val="007D75"/>
                  </a:solidFill>
                  <a:latin typeface="Telegraf Bold"/>
                  <a:ea typeface="Telegraf Bold"/>
                  <a:cs typeface="Telegraf Bold"/>
                  <a:sym typeface="Telegraf Bold"/>
                </a:rPr>
                <a:t>Enhancing Collateral Management Strategies</a:t>
              </a:r>
            </a:p>
          </p:txBody>
        </p:sp>
      </p:grpSp>
      <p:sp>
        <p:nvSpPr>
          <p:cNvPr id="5" name="TextBox 5"/>
          <p:cNvSpPr txBox="1"/>
          <p:nvPr/>
        </p:nvSpPr>
        <p:spPr>
          <a:xfrm>
            <a:off x="9296400" y="590550"/>
            <a:ext cx="8324850" cy="5311775"/>
          </a:xfrm>
          <a:prstGeom prst="rect">
            <a:avLst/>
          </a:prstGeom>
        </p:spPr>
        <p:txBody>
          <a:bodyPr lIns="0" tIns="0" rIns="0" bIns="0" rtlCol="0" anchor="t">
            <a:spAutoFit/>
          </a:bodyPr>
          <a:lstStyle/>
          <a:p>
            <a:pPr marL="0" lvl="0" indent="0" algn="l">
              <a:lnSpc>
                <a:spcPts val="2800"/>
              </a:lnSpc>
            </a:pPr>
            <a:r>
              <a:rPr lang="en-US" sz="2000" spc="-20">
                <a:solidFill>
                  <a:srgbClr val="274C4B"/>
                </a:solidFill>
                <a:latin typeface="Telegraf"/>
                <a:ea typeface="Telegraf"/>
                <a:cs typeface="Telegraf"/>
                <a:sym typeface="Telegraf"/>
              </a:rPr>
              <a:t>In today's dynamic financial landscape, effective collateral management is crucial. Key focus areas include:</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Identifying collateral drifts</a:t>
            </a:r>
            <a:r>
              <a:rPr lang="en-US" sz="2000" spc="-20">
                <a:solidFill>
                  <a:srgbClr val="274C4B"/>
                </a:solidFill>
                <a:latin typeface="Telegraf"/>
                <a:ea typeface="Telegraf"/>
                <a:cs typeface="Telegraf"/>
                <a:sym typeface="Telegraf"/>
              </a:rPr>
              <a:t>: Regularly monitor changes in valuations to ensure assets remain appropriately valued.</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Improving coverage ratios</a:t>
            </a:r>
            <a:r>
              <a:rPr lang="en-US" sz="2000" spc="-20">
                <a:solidFill>
                  <a:srgbClr val="274C4B"/>
                </a:solidFill>
                <a:latin typeface="Telegraf"/>
                <a:ea typeface="Telegraf"/>
                <a:cs typeface="Telegraf"/>
                <a:sym typeface="Telegraf"/>
              </a:rPr>
              <a:t>: Optimize collateral allocations to meet regulatory requirements and minimize risks.</a:t>
            </a:r>
          </a:p>
          <a:p>
            <a:pPr marL="431801" lvl="1" indent="-215900" algn="l">
              <a:lnSpc>
                <a:spcPts val="2800"/>
              </a:lnSpc>
              <a:buFont typeface="Arial"/>
              <a:buChar char="•"/>
            </a:pPr>
            <a:r>
              <a:rPr lang="en-US" sz="2000" b="1" spc="-20">
                <a:solidFill>
                  <a:srgbClr val="274C4B"/>
                </a:solidFill>
                <a:latin typeface="Telegraf Bold"/>
                <a:ea typeface="Telegraf Bold"/>
                <a:cs typeface="Telegraf Bold"/>
                <a:sym typeface="Telegraf Bold"/>
              </a:rPr>
              <a:t>Supporting regulatory discussions</a:t>
            </a:r>
            <a:r>
              <a:rPr lang="en-US" sz="2000" spc="-20">
                <a:solidFill>
                  <a:srgbClr val="274C4B"/>
                </a:solidFill>
                <a:latin typeface="Telegraf"/>
                <a:ea typeface="Telegraf"/>
                <a:cs typeface="Telegraf"/>
                <a:sym typeface="Telegraf"/>
              </a:rPr>
              <a:t>: Provide transparent and accurate data to facilitate communication with regulators.</a:t>
            </a:r>
          </a:p>
          <a:p>
            <a:pPr marL="0" lvl="0" indent="0" algn="l">
              <a:lnSpc>
                <a:spcPts val="2800"/>
              </a:lnSpc>
            </a:pPr>
            <a:r>
              <a:rPr lang="en-US" sz="2000" spc="-20">
                <a:solidFill>
                  <a:srgbClr val="274C4B"/>
                </a:solidFill>
                <a:latin typeface="Telegraf"/>
                <a:ea typeface="Telegraf"/>
                <a:cs typeface="Telegraf"/>
                <a:sym typeface="Telegraf"/>
              </a:rPr>
              <a:t>By leveraging AI and ML technologies, we can achieve better insights into collateral management, allowing us to proactively address potential issues. These capabilities will not only enhance operational efficiency but also strengthen our compliance posture, ultimately leading to more robust financial health for the institution. Continuous monitoring and analysis will drive informed decision-making, ensuring we maintain high standards in custody and collateral management.</a:t>
            </a:r>
          </a:p>
        </p:txBody>
      </p:sp>
      <p:sp>
        <p:nvSpPr>
          <p:cNvPr id="6" name="AutoShape 6"/>
          <p:cNvSpPr/>
          <p:nvPr/>
        </p:nvSpPr>
        <p:spPr>
          <a:xfrm>
            <a:off x="666750" y="9620250"/>
            <a:ext cx="16954500" cy="0"/>
          </a:xfrm>
          <a:prstGeom prst="line">
            <a:avLst/>
          </a:prstGeom>
          <a:ln w="9525" cap="flat">
            <a:solidFill>
              <a:srgbClr val="004B40"/>
            </a:solidFill>
            <a:prstDash val="solid"/>
            <a:headEnd type="none" w="sm" len="sm"/>
            <a:tailEnd type="none" w="sm" len="sm"/>
          </a:ln>
        </p:spPr>
      </p:sp>
      <p:sp>
        <p:nvSpPr>
          <p:cNvPr id="7" name="TextBox 7"/>
          <p:cNvSpPr txBox="1"/>
          <p:nvPr/>
        </p:nvSpPr>
        <p:spPr>
          <a:xfrm>
            <a:off x="666750" y="9676455"/>
            <a:ext cx="2571750" cy="217170"/>
          </a:xfrm>
          <a:prstGeom prst="rect">
            <a:avLst/>
          </a:prstGeom>
        </p:spPr>
        <p:txBody>
          <a:bodyPr lIns="0" tIns="0" rIns="0" bIns="0" rtlCol="0" anchor="t">
            <a:spAutoFit/>
          </a:bodyPr>
          <a:lstStyle/>
          <a:p>
            <a:pPr marL="0" lvl="0" indent="0" algn="l">
              <a:lnSpc>
                <a:spcPts val="1679"/>
              </a:lnSpc>
              <a:spcBef>
                <a:spcPct val="0"/>
              </a:spcBef>
            </a:pPr>
            <a:r>
              <a:rPr lang="en-US" sz="1200" b="1" spc="-12">
                <a:solidFill>
                  <a:srgbClr val="274C4B"/>
                </a:solidFill>
                <a:latin typeface="Telegraf Bold"/>
                <a:ea typeface="Telegraf Bold"/>
                <a:cs typeface="Telegraf Bold"/>
                <a:sym typeface="Telegraf Bold"/>
              </a:rPr>
              <a:t>ADDITIONAL INSIGHTS</a:t>
            </a:r>
          </a:p>
        </p:txBody>
      </p:sp>
      <p:sp>
        <p:nvSpPr>
          <p:cNvPr id="8" name="TextBox 8"/>
          <p:cNvSpPr txBox="1"/>
          <p:nvPr/>
        </p:nvSpPr>
        <p:spPr>
          <a:xfrm>
            <a:off x="17415597" y="9676442"/>
            <a:ext cx="152400" cy="190500"/>
          </a:xfrm>
          <a:prstGeom prst="rect">
            <a:avLst/>
          </a:prstGeom>
        </p:spPr>
        <p:txBody>
          <a:bodyPr wrap="none" lIns="0" tIns="0" rIns="0" bIns="0" rtlCol="0" anchor="t">
            <a:spAutoFit/>
          </a:bodyPr>
          <a:lstStyle/>
          <a:p>
            <a:pPr marL="0" lvl="0" indent="0" algn="r">
              <a:lnSpc>
                <a:spcPts val="1679"/>
              </a:lnSpc>
              <a:spcBef>
                <a:spcPct val="0"/>
              </a:spcBef>
            </a:pPr>
            <a:r>
              <a:rPr lang="en-US" sz="1200" b="1">
                <a:solidFill>
                  <a:srgbClr val="274C4B"/>
                </a:solidFill>
                <a:latin typeface="Telegraf Bold"/>
                <a:ea typeface="Telegraf Bold"/>
                <a:cs typeface="Telegraf Bold"/>
                <a:sym typeface="Telegraf Bold"/>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66750" y="683081"/>
            <a:ext cx="12639675" cy="1774349"/>
            <a:chOff x="0" y="0"/>
            <a:chExt cx="16852900" cy="2365799"/>
          </a:xfrm>
        </p:grpSpPr>
        <p:sp>
          <p:nvSpPr>
            <p:cNvPr id="3" name="TextBox 3"/>
            <p:cNvSpPr txBox="1"/>
            <p:nvPr/>
          </p:nvSpPr>
          <p:spPr>
            <a:xfrm>
              <a:off x="0" y="-19050"/>
              <a:ext cx="16852900" cy="1432984"/>
            </a:xfrm>
            <a:prstGeom prst="rect">
              <a:avLst/>
            </a:prstGeom>
          </p:spPr>
          <p:txBody>
            <a:bodyPr lIns="0" tIns="0" rIns="0" bIns="0" rtlCol="0" anchor="t">
              <a:spAutoFit/>
            </a:bodyPr>
            <a:lstStyle/>
            <a:p>
              <a:pPr marL="0" lvl="0" indent="0" algn="l">
                <a:lnSpc>
                  <a:spcPts val="7700"/>
                </a:lnSpc>
              </a:pPr>
              <a:r>
                <a:rPr lang="en-US" sz="7000" b="1" spc="-70">
                  <a:solidFill>
                    <a:srgbClr val="004B40"/>
                  </a:solidFill>
                  <a:latin typeface="Telegraf Bold"/>
                  <a:ea typeface="Telegraf Bold"/>
                  <a:cs typeface="Telegraf Bold"/>
                  <a:sym typeface="Telegraf Bold"/>
                </a:rPr>
                <a:t>Vision Summary</a:t>
              </a:r>
            </a:p>
          </p:txBody>
        </p:sp>
        <p:sp>
          <p:nvSpPr>
            <p:cNvPr id="4" name="TextBox 4"/>
            <p:cNvSpPr txBox="1"/>
            <p:nvPr/>
          </p:nvSpPr>
          <p:spPr>
            <a:xfrm>
              <a:off x="0" y="1760009"/>
              <a:ext cx="16852900" cy="605790"/>
            </a:xfrm>
            <a:prstGeom prst="rect">
              <a:avLst/>
            </a:prstGeom>
          </p:spPr>
          <p:txBody>
            <a:bodyPr lIns="0" tIns="0" rIns="0" bIns="0" rtlCol="0" anchor="t">
              <a:spAutoFit/>
            </a:bodyPr>
            <a:lstStyle/>
            <a:p>
              <a:pPr marL="0" lvl="0" indent="0" algn="l">
                <a:lnSpc>
                  <a:spcPts val="3258"/>
                </a:lnSpc>
              </a:pPr>
              <a:r>
                <a:rPr lang="en-US" sz="2962" b="1" spc="-29">
                  <a:solidFill>
                    <a:srgbClr val="007D75"/>
                  </a:solidFill>
                  <a:latin typeface="Telegraf Bold"/>
                  <a:ea typeface="Telegraf Bold"/>
                  <a:cs typeface="Telegraf Bold"/>
                  <a:sym typeface="Telegraf Bold"/>
                </a:rPr>
                <a:t>Transforming Data into Actionable Insights</a:t>
              </a:r>
            </a:p>
          </p:txBody>
        </p:sp>
      </p:grpSp>
      <p:grpSp>
        <p:nvGrpSpPr>
          <p:cNvPr id="5" name="Group 5"/>
          <p:cNvGrpSpPr/>
          <p:nvPr/>
        </p:nvGrpSpPr>
        <p:grpSpPr>
          <a:xfrm>
            <a:off x="15049500" y="0"/>
            <a:ext cx="3238500" cy="10287000"/>
            <a:chOff x="0" y="0"/>
            <a:chExt cx="852938" cy="2709333"/>
          </a:xfrm>
        </p:grpSpPr>
        <p:sp>
          <p:nvSpPr>
            <p:cNvPr id="6" name="Freeform 6"/>
            <p:cNvSpPr/>
            <p:nvPr/>
          </p:nvSpPr>
          <p:spPr>
            <a:xfrm>
              <a:off x="0" y="0"/>
              <a:ext cx="852938" cy="2709333"/>
            </a:xfrm>
            <a:custGeom>
              <a:avLst/>
              <a:gdLst/>
              <a:ahLst/>
              <a:cxnLst/>
              <a:rect l="l" t="t" r="r" b="b"/>
              <a:pathLst>
                <a:path w="852938" h="2709333">
                  <a:moveTo>
                    <a:pt x="0" y="0"/>
                  </a:moveTo>
                  <a:lnTo>
                    <a:pt x="852938" y="0"/>
                  </a:lnTo>
                  <a:lnTo>
                    <a:pt x="852938" y="2709333"/>
                  </a:lnTo>
                  <a:lnTo>
                    <a:pt x="0" y="2709333"/>
                  </a:lnTo>
                  <a:close/>
                </a:path>
              </a:pathLst>
            </a:custGeom>
            <a:solidFill>
              <a:srgbClr val="6AD1C5"/>
            </a:solidFill>
          </p:spPr>
        </p:sp>
        <p:sp>
          <p:nvSpPr>
            <p:cNvPr id="7" name="TextBox 7"/>
            <p:cNvSpPr txBox="1"/>
            <p:nvPr/>
          </p:nvSpPr>
          <p:spPr>
            <a:xfrm>
              <a:off x="0" y="-76200"/>
              <a:ext cx="852938" cy="2785533"/>
            </a:xfrm>
            <a:prstGeom prst="rect">
              <a:avLst/>
            </a:prstGeom>
          </p:spPr>
          <p:txBody>
            <a:bodyPr lIns="50800" tIns="50800" rIns="50800" bIns="50800" rtlCol="0" anchor="ctr"/>
            <a:lstStyle/>
            <a:p>
              <a:pPr marL="0" lvl="0" indent="0" algn="ctr">
                <a:lnSpc>
                  <a:spcPts val="2800"/>
                </a:lnSpc>
              </a:pPr>
              <a:endParaRPr/>
            </a:p>
          </p:txBody>
        </p:sp>
      </p:grpSp>
      <p:sp>
        <p:nvSpPr>
          <p:cNvPr id="8" name="AutoShape 8"/>
          <p:cNvSpPr/>
          <p:nvPr/>
        </p:nvSpPr>
        <p:spPr>
          <a:xfrm>
            <a:off x="666750" y="9620250"/>
            <a:ext cx="16954500" cy="0"/>
          </a:xfrm>
          <a:prstGeom prst="line">
            <a:avLst/>
          </a:prstGeom>
          <a:ln w="9525" cap="flat">
            <a:solidFill>
              <a:srgbClr val="004B40"/>
            </a:solidFill>
            <a:prstDash val="solid"/>
            <a:headEnd type="none" w="sm" len="sm"/>
            <a:tailEnd type="none" w="sm" len="sm"/>
          </a:ln>
        </p:spPr>
      </p:sp>
      <p:sp>
        <p:nvSpPr>
          <p:cNvPr id="9" name="TextBox 9"/>
          <p:cNvSpPr txBox="1"/>
          <p:nvPr/>
        </p:nvSpPr>
        <p:spPr>
          <a:xfrm>
            <a:off x="666750" y="9571680"/>
            <a:ext cx="2571750" cy="426720"/>
          </a:xfrm>
          <a:prstGeom prst="rect">
            <a:avLst/>
          </a:prstGeom>
        </p:spPr>
        <p:txBody>
          <a:bodyPr lIns="0" tIns="0" rIns="0" bIns="0" rtlCol="0" anchor="t">
            <a:spAutoFit/>
          </a:bodyPr>
          <a:lstStyle/>
          <a:p>
            <a:pPr marL="0" lvl="0" indent="0" algn="l">
              <a:lnSpc>
                <a:spcPts val="1679"/>
              </a:lnSpc>
              <a:spcBef>
                <a:spcPct val="0"/>
              </a:spcBef>
            </a:pPr>
            <a:r>
              <a:rPr lang="en-US" sz="1200" b="1" spc="-12">
                <a:solidFill>
                  <a:srgbClr val="274C4B"/>
                </a:solidFill>
                <a:latin typeface="Telegraf Bold"/>
                <a:ea typeface="Telegraf Bold"/>
                <a:cs typeface="Telegraf Bold"/>
                <a:sym typeface="Telegraf Bold"/>
              </a:rPr>
              <a:t>CONFIDENTIAL PRESENTATION DETAILS</a:t>
            </a:r>
          </a:p>
        </p:txBody>
      </p:sp>
      <p:sp>
        <p:nvSpPr>
          <p:cNvPr id="10" name="TextBox 10"/>
          <p:cNvSpPr txBox="1"/>
          <p:nvPr/>
        </p:nvSpPr>
        <p:spPr>
          <a:xfrm>
            <a:off x="17406193" y="9676442"/>
            <a:ext cx="152400" cy="190500"/>
          </a:xfrm>
          <a:prstGeom prst="rect">
            <a:avLst/>
          </a:prstGeom>
        </p:spPr>
        <p:txBody>
          <a:bodyPr wrap="none" lIns="0" tIns="0" rIns="0" bIns="0" rtlCol="0" anchor="t">
            <a:spAutoFit/>
          </a:bodyPr>
          <a:lstStyle/>
          <a:p>
            <a:pPr marL="0" lvl="0" indent="0" algn="r">
              <a:lnSpc>
                <a:spcPts val="1679"/>
              </a:lnSpc>
              <a:spcBef>
                <a:spcPct val="0"/>
              </a:spcBef>
            </a:pPr>
            <a:r>
              <a:rPr lang="en-US" sz="1200" b="1">
                <a:solidFill>
                  <a:srgbClr val="274C4B"/>
                </a:solidFill>
                <a:latin typeface="Telegraf Bold"/>
                <a:ea typeface="Telegraf Bold"/>
                <a:cs typeface="Telegraf Bold"/>
                <a:sym typeface="Telegraf Bold"/>
              </a:rPr>
              <a:t>13</a:t>
            </a:r>
          </a:p>
        </p:txBody>
      </p:sp>
      <p:pic>
        <p:nvPicPr>
          <p:cNvPr id="12" name="Picture 11">
            <a:extLst>
              <a:ext uri="{FF2B5EF4-FFF2-40B4-BE49-F238E27FC236}">
                <a16:creationId xmlns:a16="http://schemas.microsoft.com/office/drawing/2014/main" id="{8D854A3B-DD58-4DB1-2797-F362BAD0DB17}"/>
              </a:ext>
            </a:extLst>
          </p:cNvPr>
          <p:cNvPicPr>
            <a:picLocks noChangeAspect="1"/>
          </p:cNvPicPr>
          <p:nvPr/>
        </p:nvPicPr>
        <p:blipFill>
          <a:blip r:embed="rId2"/>
          <a:stretch>
            <a:fillRect/>
          </a:stretch>
        </p:blipFill>
        <p:spPr>
          <a:xfrm>
            <a:off x="666750" y="2716986"/>
            <a:ext cx="12211050" cy="664775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1468</Words>
  <Application>Microsoft Office PowerPoint</Application>
  <PresentationFormat>Custom</PresentationFormat>
  <Paragraphs>111</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Telegraf</vt:lpstr>
      <vt:lpstr>Calibri</vt:lpstr>
      <vt:lpstr>Arial</vt:lpstr>
      <vt:lpstr>Telegraf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AI/ML Driven 360° Client Intelligence</dc:title>
  <dc:description>Presentation - AI/ML Driven 360° Client Intelligence</dc:description>
  <cp:lastModifiedBy>vaibhav khandelwal</cp:lastModifiedBy>
  <cp:revision>2</cp:revision>
  <dcterms:created xsi:type="dcterms:W3CDTF">2006-08-16T00:00:00Z</dcterms:created>
  <dcterms:modified xsi:type="dcterms:W3CDTF">2025-11-10T10:21:07Z</dcterms:modified>
  <dc:identifier>DAG4AqlznhE</dc:identifier>
</cp:coreProperties>
</file>