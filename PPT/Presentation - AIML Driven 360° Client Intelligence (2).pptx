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Lst>
  <p:sldSz cx="18288000" cy="10287000"/>
  <p:notesSz cx="6858000" cy="9144000"/>
  <p:embeddedFontLst>
    <p:embeddedFont>
      <p:font typeface="Georgia Pro Condensed Light" charset="1" panose="02040306050405020303"/>
      <p:regular r:id="rId17"/>
    </p:embeddedFont>
    <p:embeddedFont>
      <p:font typeface="TT Interphases" charset="1" panose="02000503020000020004"/>
      <p:regular r:id="rId18"/>
    </p:embeddedFont>
    <p:embeddedFont>
      <p:font typeface="TT Interphases Bold" charset="1" panose="02000803060000020004"/>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8.jpeg" Type="http://schemas.openxmlformats.org/officeDocument/2006/relationships/image"/><Relationship Id="rId4" Target="../media/image9.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jpeg" Type="http://schemas.openxmlformats.org/officeDocument/2006/relationships/image"/><Relationship Id="rId3" Target="../media/image13.png" Type="http://schemas.openxmlformats.org/officeDocument/2006/relationships/image"/><Relationship Id="rId4" Target="../media/image14.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991600" y="1562100"/>
            <a:ext cx="8629650" cy="8724900"/>
            <a:chOff x="0" y="0"/>
            <a:chExt cx="2482140" cy="2509537"/>
          </a:xfrm>
        </p:grpSpPr>
        <p:sp>
          <p:nvSpPr>
            <p:cNvPr name="Freeform 3" id="3"/>
            <p:cNvSpPr/>
            <p:nvPr/>
          </p:nvSpPr>
          <p:spPr>
            <a:xfrm flipH="false" flipV="false" rot="0">
              <a:off x="0" y="0"/>
              <a:ext cx="2482140" cy="2509537"/>
            </a:xfrm>
            <a:custGeom>
              <a:avLst/>
              <a:gdLst/>
              <a:ahLst/>
              <a:cxnLst/>
              <a:rect r="r" b="b" t="t" l="l"/>
              <a:pathLst>
                <a:path h="2509537" w="2482140">
                  <a:moveTo>
                    <a:pt x="0" y="0"/>
                  </a:moveTo>
                  <a:lnTo>
                    <a:pt x="2482140" y="0"/>
                  </a:lnTo>
                  <a:lnTo>
                    <a:pt x="2482140" y="2509537"/>
                  </a:lnTo>
                  <a:lnTo>
                    <a:pt x="0" y="2509537"/>
                  </a:lnTo>
                  <a:close/>
                </a:path>
              </a:pathLst>
            </a:custGeom>
            <a:blipFill>
              <a:blip r:embed="rId2"/>
              <a:stretch>
                <a:fillRect l="0" t="-80" r="0" b="-80"/>
              </a:stretch>
            </a:blipFill>
          </p:spPr>
        </p:sp>
      </p:grpSp>
      <p:sp>
        <p:nvSpPr>
          <p:cNvPr name="TextBox 4" id="4"/>
          <p:cNvSpPr txBox="true"/>
          <p:nvPr/>
        </p:nvSpPr>
        <p:spPr>
          <a:xfrm rot="0">
            <a:off x="666750" y="1619250"/>
            <a:ext cx="6886575" cy="3034665"/>
          </a:xfrm>
          <a:prstGeom prst="rect">
            <a:avLst/>
          </a:prstGeom>
        </p:spPr>
        <p:txBody>
          <a:bodyPr anchor="t" rtlCol="false" tIns="0" lIns="0" bIns="0" rIns="0">
            <a:spAutoFit/>
          </a:bodyPr>
          <a:lstStyle/>
          <a:p>
            <a:pPr algn="l" marL="0" indent="0" lvl="0">
              <a:lnSpc>
                <a:spcPts val="7920"/>
              </a:lnSpc>
            </a:pPr>
            <a:r>
              <a:rPr lang="en-US" sz="7200" strike="noStrike" u="none">
                <a:solidFill>
                  <a:srgbClr val="005A87"/>
                </a:solidFill>
                <a:latin typeface="Georgia Pro Condensed Light"/>
                <a:ea typeface="Georgia Pro Condensed Light"/>
                <a:cs typeface="Georgia Pro Condensed Light"/>
                <a:sym typeface="Georgia Pro Condensed Light"/>
              </a:rPr>
              <a:t>AI/ML Driven 360° Client Intelligence</a:t>
            </a:r>
          </a:p>
        </p:txBody>
      </p:sp>
      <p:sp>
        <p:nvSpPr>
          <p:cNvPr name="TextBox 5" id="5"/>
          <p:cNvSpPr txBox="true"/>
          <p:nvPr/>
        </p:nvSpPr>
        <p:spPr>
          <a:xfrm rot="0">
            <a:off x="666750" y="8899644"/>
            <a:ext cx="5448300" cy="737900"/>
          </a:xfrm>
          <a:prstGeom prst="rect">
            <a:avLst/>
          </a:prstGeom>
        </p:spPr>
        <p:txBody>
          <a:bodyPr anchor="t" rtlCol="false" tIns="0" lIns="0" bIns="0" rIns="0">
            <a:spAutoFit/>
          </a:bodyPr>
          <a:lstStyle/>
          <a:p>
            <a:pPr algn="l" marL="0" indent="0" lvl="0">
              <a:lnSpc>
                <a:spcPts val="2940"/>
              </a:lnSpc>
              <a:spcBef>
                <a:spcPct val="0"/>
              </a:spcBef>
            </a:pPr>
            <a:r>
              <a:rPr lang="en-US" sz="2100" strike="noStrike" u="none">
                <a:solidFill>
                  <a:srgbClr val="2B2B2B"/>
                </a:solidFill>
                <a:latin typeface="TT Interphases"/>
                <a:ea typeface="TT Interphases"/>
                <a:cs typeface="TT Interphases"/>
                <a:sym typeface="TT Interphases"/>
              </a:rPr>
              <a:t>Presented by: [Your Name], [Your Role] in the AI/ML Project Team</a:t>
            </a:r>
          </a:p>
        </p:txBody>
      </p:sp>
      <p:sp>
        <p:nvSpPr>
          <p:cNvPr name="AutoShape 6" id="6"/>
          <p:cNvSpPr/>
          <p:nvPr/>
        </p:nvSpPr>
        <p:spPr>
          <a:xfrm>
            <a:off x="666750" y="1263650"/>
            <a:ext cx="16954500" cy="0"/>
          </a:xfrm>
          <a:prstGeom prst="line">
            <a:avLst/>
          </a:prstGeom>
          <a:ln cap="flat" w="9525">
            <a:solidFill>
              <a:srgbClr val="2B2B2B"/>
            </a:solidFill>
            <a:prstDash val="solid"/>
            <a:headEnd type="none" len="sm" w="sm"/>
            <a:tailEnd type="none" len="sm" w="sm"/>
          </a:ln>
        </p:spPr>
      </p:sp>
      <p:sp>
        <p:nvSpPr>
          <p:cNvPr name="TextBox 7" id="7"/>
          <p:cNvSpPr txBox="true"/>
          <p:nvPr/>
        </p:nvSpPr>
        <p:spPr>
          <a:xfrm rot="0">
            <a:off x="666750" y="695325"/>
            <a:ext cx="16954500" cy="291465"/>
          </a:xfrm>
          <a:prstGeom prst="rect">
            <a:avLst/>
          </a:prstGeom>
        </p:spPr>
        <p:txBody>
          <a:bodyPr anchor="t" rtlCol="false" tIns="0" lIns="0" bIns="0" rIns="0">
            <a:spAutoFit/>
          </a:bodyPr>
          <a:lstStyle/>
          <a:p>
            <a:pPr algn="just" marL="0" indent="0" lvl="0">
              <a:lnSpc>
                <a:spcPts val="2100"/>
              </a:lnSpc>
            </a:pPr>
            <a:r>
              <a:rPr lang="en-US" b="true" sz="2100">
                <a:solidFill>
                  <a:srgbClr val="2B2B2B"/>
                </a:solidFill>
                <a:latin typeface="TT Interphases Bold"/>
                <a:ea typeface="TT Interphases Bold"/>
                <a:cs typeface="TT Interphases Bold"/>
                <a:sym typeface="TT Interphases Bold"/>
              </a:rPr>
              <a:t>STANDARD CHARTERED BANK</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991600" y="666750"/>
            <a:ext cx="9296400" cy="9620250"/>
            <a:chOff x="0" y="0"/>
            <a:chExt cx="957635" cy="990995"/>
          </a:xfrm>
        </p:grpSpPr>
        <p:sp>
          <p:nvSpPr>
            <p:cNvPr name="Freeform 3" id="3"/>
            <p:cNvSpPr/>
            <p:nvPr/>
          </p:nvSpPr>
          <p:spPr>
            <a:xfrm flipH="false" flipV="false" rot="0">
              <a:off x="0" y="0"/>
              <a:ext cx="957635" cy="990995"/>
            </a:xfrm>
            <a:custGeom>
              <a:avLst/>
              <a:gdLst/>
              <a:ahLst/>
              <a:cxnLst/>
              <a:rect r="r" b="b" t="t" l="l"/>
              <a:pathLst>
                <a:path h="990995" w="957635">
                  <a:moveTo>
                    <a:pt x="0" y="0"/>
                  </a:moveTo>
                  <a:lnTo>
                    <a:pt x="957635" y="0"/>
                  </a:lnTo>
                  <a:lnTo>
                    <a:pt x="957635" y="990995"/>
                  </a:lnTo>
                  <a:lnTo>
                    <a:pt x="0" y="990995"/>
                  </a:lnTo>
                  <a:close/>
                </a:path>
              </a:pathLst>
            </a:custGeom>
            <a:blipFill>
              <a:blip r:embed="rId2"/>
              <a:stretch>
                <a:fillRect l="0" t="-69" r="0" b="-69"/>
              </a:stretch>
            </a:blipFill>
          </p:spPr>
        </p:sp>
      </p:grpSp>
      <p:sp>
        <p:nvSpPr>
          <p:cNvPr name="TextBox 4" id="4"/>
          <p:cNvSpPr txBox="true"/>
          <p:nvPr/>
        </p:nvSpPr>
        <p:spPr>
          <a:xfrm rot="0">
            <a:off x="666750" y="723900"/>
            <a:ext cx="6886575" cy="1034415"/>
          </a:xfrm>
          <a:prstGeom prst="rect">
            <a:avLst/>
          </a:prstGeom>
        </p:spPr>
        <p:txBody>
          <a:bodyPr anchor="t" rtlCol="false" tIns="0" lIns="0" bIns="0" rIns="0">
            <a:spAutoFit/>
          </a:bodyPr>
          <a:lstStyle/>
          <a:p>
            <a:pPr algn="l" marL="0" indent="0" lvl="0">
              <a:lnSpc>
                <a:spcPts val="7920"/>
              </a:lnSpc>
            </a:pPr>
            <a:r>
              <a:rPr lang="en-US" sz="7200">
                <a:solidFill>
                  <a:srgbClr val="005A87"/>
                </a:solidFill>
                <a:latin typeface="Georgia Pro Condensed Light"/>
                <a:ea typeface="Georgia Pro Condensed Light"/>
                <a:cs typeface="Georgia Pro Condensed Light"/>
                <a:sym typeface="Georgia Pro Condensed Light"/>
              </a:rPr>
              <a:t>Project Objective</a:t>
            </a:r>
          </a:p>
        </p:txBody>
      </p:sp>
      <p:sp>
        <p:nvSpPr>
          <p:cNvPr name="AutoShape 5" id="5"/>
          <p:cNvSpPr/>
          <p:nvPr/>
        </p:nvSpPr>
        <p:spPr>
          <a:xfrm flipV="true">
            <a:off x="666750" y="9625012"/>
            <a:ext cx="5753100" cy="0"/>
          </a:xfrm>
          <a:prstGeom prst="line">
            <a:avLst/>
          </a:prstGeom>
          <a:ln cap="flat" w="9525">
            <a:solidFill>
              <a:srgbClr val="2B2B2B"/>
            </a:solidFill>
            <a:prstDash val="solid"/>
            <a:headEnd type="none" len="sm" w="sm"/>
            <a:tailEnd type="none" len="sm" w="sm"/>
          </a:ln>
        </p:spPr>
      </p:sp>
      <p:sp>
        <p:nvSpPr>
          <p:cNvPr name="TextBox 6" id="6"/>
          <p:cNvSpPr txBox="true"/>
          <p:nvPr/>
        </p:nvSpPr>
        <p:spPr>
          <a:xfrm rot="0">
            <a:off x="666750" y="6501765"/>
            <a:ext cx="6886575" cy="2223135"/>
          </a:xfrm>
          <a:prstGeom prst="rect">
            <a:avLst/>
          </a:prstGeom>
        </p:spPr>
        <p:txBody>
          <a:bodyPr anchor="t" rtlCol="false" tIns="0" lIns="0" bIns="0" rIns="0">
            <a:spAutoFit/>
          </a:bodyPr>
          <a:lstStyle/>
          <a:p>
            <a:pPr algn="l" marL="0" indent="0" lvl="0">
              <a:lnSpc>
                <a:spcPts val="2940"/>
              </a:lnSpc>
            </a:pPr>
            <a:r>
              <a:rPr lang="en-US" sz="2100">
                <a:solidFill>
                  <a:srgbClr val="2B2B2B"/>
                </a:solidFill>
                <a:latin typeface="TT Interphases"/>
                <a:ea typeface="TT Interphases"/>
                <a:cs typeface="TT Interphases"/>
                <a:sym typeface="TT Interphases"/>
              </a:rPr>
              <a:t>This section outlines the primary objectives of the AI/ML Driven 360° Client Intelligence project. It aims to integrate extensive datasets, establish robust ML and LLM pipelines, and ultimately deliver a comprehensive 360° client intelligence dashboard for enhanced decision-making.</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991600" y="666750"/>
            <a:ext cx="9296400" cy="9620250"/>
            <a:chOff x="0" y="0"/>
            <a:chExt cx="957635" cy="990995"/>
          </a:xfrm>
        </p:grpSpPr>
        <p:sp>
          <p:nvSpPr>
            <p:cNvPr name="Freeform 3" id="3"/>
            <p:cNvSpPr/>
            <p:nvPr/>
          </p:nvSpPr>
          <p:spPr>
            <a:xfrm flipH="false" flipV="false" rot="0">
              <a:off x="0" y="0"/>
              <a:ext cx="957635" cy="990995"/>
            </a:xfrm>
            <a:custGeom>
              <a:avLst/>
              <a:gdLst/>
              <a:ahLst/>
              <a:cxnLst/>
              <a:rect r="r" b="b" t="t" l="l"/>
              <a:pathLst>
                <a:path h="990995" w="957635">
                  <a:moveTo>
                    <a:pt x="0" y="0"/>
                  </a:moveTo>
                  <a:lnTo>
                    <a:pt x="957635" y="0"/>
                  </a:lnTo>
                  <a:lnTo>
                    <a:pt x="957635" y="990995"/>
                  </a:lnTo>
                  <a:lnTo>
                    <a:pt x="0" y="990995"/>
                  </a:lnTo>
                  <a:close/>
                </a:path>
              </a:pathLst>
            </a:custGeom>
            <a:blipFill>
              <a:blip r:embed="rId2"/>
              <a:stretch>
                <a:fillRect l="0" t="-69" r="0" b="-69"/>
              </a:stretch>
            </a:blipFill>
          </p:spPr>
        </p:sp>
      </p:grpSp>
      <p:sp>
        <p:nvSpPr>
          <p:cNvPr name="TextBox 4" id="4"/>
          <p:cNvSpPr txBox="true"/>
          <p:nvPr/>
        </p:nvSpPr>
        <p:spPr>
          <a:xfrm rot="0">
            <a:off x="666750" y="723900"/>
            <a:ext cx="6886575" cy="1034415"/>
          </a:xfrm>
          <a:prstGeom prst="rect">
            <a:avLst/>
          </a:prstGeom>
        </p:spPr>
        <p:txBody>
          <a:bodyPr anchor="t" rtlCol="false" tIns="0" lIns="0" bIns="0" rIns="0">
            <a:spAutoFit/>
          </a:bodyPr>
          <a:lstStyle/>
          <a:p>
            <a:pPr algn="l" marL="0" indent="0" lvl="0">
              <a:lnSpc>
                <a:spcPts val="7920"/>
              </a:lnSpc>
            </a:pPr>
            <a:r>
              <a:rPr lang="en-US" sz="7200">
                <a:solidFill>
                  <a:srgbClr val="005A87"/>
                </a:solidFill>
                <a:latin typeface="Georgia Pro Condensed Light"/>
                <a:ea typeface="Georgia Pro Condensed Light"/>
                <a:cs typeface="Georgia Pro Condensed Light"/>
                <a:sym typeface="Georgia Pro Condensed Light"/>
              </a:rPr>
              <a:t>Data Architecture</a:t>
            </a:r>
          </a:p>
        </p:txBody>
      </p:sp>
      <p:sp>
        <p:nvSpPr>
          <p:cNvPr name="AutoShape 5" id="5"/>
          <p:cNvSpPr/>
          <p:nvPr/>
        </p:nvSpPr>
        <p:spPr>
          <a:xfrm flipV="true">
            <a:off x="666750" y="9625012"/>
            <a:ext cx="5753100" cy="0"/>
          </a:xfrm>
          <a:prstGeom prst="line">
            <a:avLst/>
          </a:prstGeom>
          <a:ln cap="flat" w="9525">
            <a:solidFill>
              <a:srgbClr val="2B2B2B"/>
            </a:solidFill>
            <a:prstDash val="solid"/>
            <a:headEnd type="none" len="sm" w="sm"/>
            <a:tailEnd type="none" len="sm" w="sm"/>
          </a:ln>
        </p:spPr>
      </p:sp>
      <p:sp>
        <p:nvSpPr>
          <p:cNvPr name="TextBox 6" id="6"/>
          <p:cNvSpPr txBox="true"/>
          <p:nvPr/>
        </p:nvSpPr>
        <p:spPr>
          <a:xfrm rot="0">
            <a:off x="666750" y="6873240"/>
            <a:ext cx="6886575" cy="1851660"/>
          </a:xfrm>
          <a:prstGeom prst="rect">
            <a:avLst/>
          </a:prstGeom>
        </p:spPr>
        <p:txBody>
          <a:bodyPr anchor="t" rtlCol="false" tIns="0" lIns="0" bIns="0" rIns="0">
            <a:spAutoFit/>
          </a:bodyPr>
          <a:lstStyle/>
          <a:p>
            <a:pPr algn="l" marL="0" indent="0" lvl="0">
              <a:lnSpc>
                <a:spcPts val="2940"/>
              </a:lnSpc>
            </a:pPr>
            <a:r>
              <a:rPr lang="en-US" sz="2100">
                <a:solidFill>
                  <a:srgbClr val="2B2B2B"/>
                </a:solidFill>
                <a:latin typeface="TT Interphases"/>
                <a:ea typeface="TT Interphases"/>
                <a:cs typeface="TT Interphases"/>
                <a:sym typeface="TT Interphases"/>
              </a:rPr>
              <a:t>This section illustrates the </a:t>
            </a:r>
            <a:r>
              <a:rPr lang="en-US" b="true" sz="2100">
                <a:solidFill>
                  <a:srgbClr val="2B2B2B"/>
                </a:solidFill>
                <a:latin typeface="TT Interphases Bold"/>
                <a:ea typeface="TT Interphases Bold"/>
                <a:cs typeface="TT Interphases Bold"/>
                <a:sym typeface="TT Interphases Bold"/>
              </a:rPr>
              <a:t>data flow</a:t>
            </a:r>
            <a:r>
              <a:rPr lang="en-US" sz="2100">
                <a:solidFill>
                  <a:srgbClr val="2B2B2B"/>
                </a:solidFill>
                <a:latin typeface="TT Interphases"/>
                <a:ea typeface="TT Interphases"/>
                <a:cs typeface="TT Interphases"/>
                <a:sym typeface="TT Interphases"/>
              </a:rPr>
              <a:t> from various sources into a centralized data lake, showcasing the ingestion, normalization, and metadata processes. It emphasizes the critical role of governance in ensuring data integrity and availability for machine learning applications.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991600" y="666750"/>
            <a:ext cx="9296400" cy="9620250"/>
            <a:chOff x="0" y="0"/>
            <a:chExt cx="957635" cy="990995"/>
          </a:xfrm>
        </p:grpSpPr>
        <p:sp>
          <p:nvSpPr>
            <p:cNvPr name="Freeform 3" id="3"/>
            <p:cNvSpPr/>
            <p:nvPr/>
          </p:nvSpPr>
          <p:spPr>
            <a:xfrm flipH="false" flipV="false" rot="0">
              <a:off x="0" y="0"/>
              <a:ext cx="957635" cy="990995"/>
            </a:xfrm>
            <a:custGeom>
              <a:avLst/>
              <a:gdLst/>
              <a:ahLst/>
              <a:cxnLst/>
              <a:rect r="r" b="b" t="t" l="l"/>
              <a:pathLst>
                <a:path h="990995" w="957635">
                  <a:moveTo>
                    <a:pt x="0" y="0"/>
                  </a:moveTo>
                  <a:lnTo>
                    <a:pt x="957635" y="0"/>
                  </a:lnTo>
                  <a:lnTo>
                    <a:pt x="957635" y="990995"/>
                  </a:lnTo>
                  <a:lnTo>
                    <a:pt x="0" y="990995"/>
                  </a:lnTo>
                  <a:close/>
                </a:path>
              </a:pathLst>
            </a:custGeom>
            <a:blipFill>
              <a:blip r:embed="rId2"/>
              <a:stretch>
                <a:fillRect l="0" t="-69" r="0" b="-69"/>
              </a:stretch>
            </a:blipFill>
          </p:spPr>
        </p:sp>
      </p:grpSp>
      <p:sp>
        <p:nvSpPr>
          <p:cNvPr name="TextBox 4" id="4"/>
          <p:cNvSpPr txBox="true"/>
          <p:nvPr/>
        </p:nvSpPr>
        <p:spPr>
          <a:xfrm rot="0">
            <a:off x="666750" y="723900"/>
            <a:ext cx="6886575" cy="2034540"/>
          </a:xfrm>
          <a:prstGeom prst="rect">
            <a:avLst/>
          </a:prstGeom>
        </p:spPr>
        <p:txBody>
          <a:bodyPr anchor="t" rtlCol="false" tIns="0" lIns="0" bIns="0" rIns="0">
            <a:spAutoFit/>
          </a:bodyPr>
          <a:lstStyle/>
          <a:p>
            <a:pPr algn="l" marL="0" indent="0" lvl="0">
              <a:lnSpc>
                <a:spcPts val="7920"/>
              </a:lnSpc>
            </a:pPr>
            <a:r>
              <a:rPr lang="en-US" sz="7200">
                <a:solidFill>
                  <a:srgbClr val="005A87"/>
                </a:solidFill>
                <a:latin typeface="Georgia Pro Condensed Light"/>
                <a:ea typeface="Georgia Pro Condensed Light"/>
                <a:cs typeface="Georgia Pro Condensed Light"/>
                <a:sym typeface="Georgia Pro Condensed Light"/>
              </a:rPr>
              <a:t>ML Engine Components</a:t>
            </a:r>
          </a:p>
        </p:txBody>
      </p:sp>
      <p:sp>
        <p:nvSpPr>
          <p:cNvPr name="AutoShape 5" id="5"/>
          <p:cNvSpPr/>
          <p:nvPr/>
        </p:nvSpPr>
        <p:spPr>
          <a:xfrm flipV="true">
            <a:off x="666750" y="9625012"/>
            <a:ext cx="5753100" cy="0"/>
          </a:xfrm>
          <a:prstGeom prst="line">
            <a:avLst/>
          </a:prstGeom>
          <a:ln cap="flat" w="9525">
            <a:solidFill>
              <a:srgbClr val="2B2B2B"/>
            </a:solidFill>
            <a:prstDash val="solid"/>
            <a:headEnd type="none" len="sm" w="sm"/>
            <a:tailEnd type="none" len="sm" w="sm"/>
          </a:ln>
        </p:spPr>
      </p:sp>
      <p:sp>
        <p:nvSpPr>
          <p:cNvPr name="TextBox 6" id="6"/>
          <p:cNvSpPr txBox="true"/>
          <p:nvPr/>
        </p:nvSpPr>
        <p:spPr>
          <a:xfrm rot="0">
            <a:off x="666750" y="6873240"/>
            <a:ext cx="6886575" cy="1851660"/>
          </a:xfrm>
          <a:prstGeom prst="rect">
            <a:avLst/>
          </a:prstGeom>
        </p:spPr>
        <p:txBody>
          <a:bodyPr anchor="t" rtlCol="false" tIns="0" lIns="0" bIns="0" rIns="0">
            <a:spAutoFit/>
          </a:bodyPr>
          <a:lstStyle/>
          <a:p>
            <a:pPr algn="l" marL="0" indent="0" lvl="0">
              <a:lnSpc>
                <a:spcPts val="2940"/>
              </a:lnSpc>
            </a:pPr>
            <a:r>
              <a:rPr lang="en-US" sz="2100">
                <a:solidFill>
                  <a:srgbClr val="2B2B2B"/>
                </a:solidFill>
                <a:latin typeface="TT Interphases"/>
                <a:ea typeface="TT Interphases"/>
                <a:cs typeface="TT Interphases"/>
                <a:sym typeface="TT Interphases"/>
              </a:rPr>
              <a:t>The ML Engine is fundamental for driving insights from the data pipeline. It encompasses </a:t>
            </a:r>
            <a:r>
              <a:rPr lang="en-US" b="true" sz="2100">
                <a:solidFill>
                  <a:srgbClr val="2B2B2B"/>
                </a:solidFill>
                <a:latin typeface="TT Interphases Bold"/>
                <a:ea typeface="TT Interphases Bold"/>
                <a:cs typeface="TT Interphases Bold"/>
                <a:sym typeface="TT Interphases Bold"/>
              </a:rPr>
              <a:t>feature engineering</a:t>
            </a:r>
            <a:r>
              <a:rPr lang="en-US" sz="2100">
                <a:solidFill>
                  <a:srgbClr val="2B2B2B"/>
                </a:solidFill>
                <a:latin typeface="TT Interphases"/>
                <a:ea typeface="TT Interphases"/>
                <a:cs typeface="TT Interphases"/>
                <a:sym typeface="TT Interphases"/>
              </a:rPr>
              <a:t>, anomaly detection, risk scoring, and clustering, ensuring a robust framework for analytics that enhances decision-making processes and client intelligence capabilities.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991600" y="666750"/>
            <a:ext cx="9296400" cy="9620250"/>
            <a:chOff x="0" y="0"/>
            <a:chExt cx="957635" cy="990995"/>
          </a:xfrm>
        </p:grpSpPr>
        <p:sp>
          <p:nvSpPr>
            <p:cNvPr name="Freeform 3" id="3"/>
            <p:cNvSpPr/>
            <p:nvPr/>
          </p:nvSpPr>
          <p:spPr>
            <a:xfrm flipH="false" flipV="false" rot="0">
              <a:off x="0" y="0"/>
              <a:ext cx="957635" cy="990995"/>
            </a:xfrm>
            <a:custGeom>
              <a:avLst/>
              <a:gdLst/>
              <a:ahLst/>
              <a:cxnLst/>
              <a:rect r="r" b="b" t="t" l="l"/>
              <a:pathLst>
                <a:path h="990995" w="957635">
                  <a:moveTo>
                    <a:pt x="0" y="0"/>
                  </a:moveTo>
                  <a:lnTo>
                    <a:pt x="957635" y="0"/>
                  </a:lnTo>
                  <a:lnTo>
                    <a:pt x="957635" y="990995"/>
                  </a:lnTo>
                  <a:lnTo>
                    <a:pt x="0" y="990995"/>
                  </a:lnTo>
                  <a:close/>
                </a:path>
              </a:pathLst>
            </a:custGeom>
            <a:blipFill>
              <a:blip r:embed="rId2"/>
              <a:stretch>
                <a:fillRect l="0" t="-69" r="0" b="-69"/>
              </a:stretch>
            </a:blipFill>
          </p:spPr>
        </p:sp>
      </p:grpSp>
      <p:sp>
        <p:nvSpPr>
          <p:cNvPr name="TextBox 4" id="4"/>
          <p:cNvSpPr txBox="true"/>
          <p:nvPr/>
        </p:nvSpPr>
        <p:spPr>
          <a:xfrm rot="0">
            <a:off x="666750" y="723900"/>
            <a:ext cx="6886575" cy="2034540"/>
          </a:xfrm>
          <a:prstGeom prst="rect">
            <a:avLst/>
          </a:prstGeom>
        </p:spPr>
        <p:txBody>
          <a:bodyPr anchor="t" rtlCol="false" tIns="0" lIns="0" bIns="0" rIns="0">
            <a:spAutoFit/>
          </a:bodyPr>
          <a:lstStyle/>
          <a:p>
            <a:pPr algn="l" marL="0" indent="0" lvl="0">
              <a:lnSpc>
                <a:spcPts val="7920"/>
              </a:lnSpc>
            </a:pPr>
            <a:r>
              <a:rPr lang="en-US" sz="7200">
                <a:solidFill>
                  <a:srgbClr val="005A87"/>
                </a:solidFill>
                <a:latin typeface="Georgia Pro Condensed Light"/>
                <a:ea typeface="Georgia Pro Condensed Light"/>
                <a:cs typeface="Georgia Pro Condensed Light"/>
                <a:sym typeface="Georgia Pro Condensed Light"/>
              </a:rPr>
              <a:t>AI / LLM Integration</a:t>
            </a:r>
          </a:p>
        </p:txBody>
      </p:sp>
      <p:sp>
        <p:nvSpPr>
          <p:cNvPr name="AutoShape 5" id="5"/>
          <p:cNvSpPr/>
          <p:nvPr/>
        </p:nvSpPr>
        <p:spPr>
          <a:xfrm flipV="true">
            <a:off x="666750" y="9625012"/>
            <a:ext cx="5753100" cy="0"/>
          </a:xfrm>
          <a:prstGeom prst="line">
            <a:avLst/>
          </a:prstGeom>
          <a:ln cap="flat" w="9525">
            <a:solidFill>
              <a:srgbClr val="2B2B2B"/>
            </a:solidFill>
            <a:prstDash val="solid"/>
            <a:headEnd type="none" len="sm" w="sm"/>
            <a:tailEnd type="none" len="sm" w="sm"/>
          </a:ln>
        </p:spPr>
      </p:sp>
      <p:sp>
        <p:nvSpPr>
          <p:cNvPr name="TextBox 6" id="6"/>
          <p:cNvSpPr txBox="true"/>
          <p:nvPr/>
        </p:nvSpPr>
        <p:spPr>
          <a:xfrm rot="0">
            <a:off x="666750" y="6501765"/>
            <a:ext cx="6886575" cy="2223135"/>
          </a:xfrm>
          <a:prstGeom prst="rect">
            <a:avLst/>
          </a:prstGeom>
        </p:spPr>
        <p:txBody>
          <a:bodyPr anchor="t" rtlCol="false" tIns="0" lIns="0" bIns="0" rIns="0">
            <a:spAutoFit/>
          </a:bodyPr>
          <a:lstStyle/>
          <a:p>
            <a:pPr algn="l" marL="0" indent="0" lvl="0">
              <a:lnSpc>
                <a:spcPts val="2940"/>
              </a:lnSpc>
            </a:pPr>
            <a:r>
              <a:rPr lang="en-US" sz="2100">
                <a:solidFill>
                  <a:srgbClr val="2B2B2B"/>
                </a:solidFill>
                <a:latin typeface="TT Interphases"/>
                <a:ea typeface="TT Interphases"/>
                <a:cs typeface="TT Interphases"/>
                <a:sym typeface="TT Interphases"/>
              </a:rPr>
              <a:t>This section outlines the integration of AI and LLM technologies on top of the machine learning outputs. Leveraging LangChain and GPT-5, we enhance insights and ensure explainability through SHAP, along with automated narratives and natural-language data queries for improved user interaction.</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991600" y="666750"/>
            <a:ext cx="9296400" cy="9620250"/>
            <a:chOff x="0" y="0"/>
            <a:chExt cx="957635" cy="990995"/>
          </a:xfrm>
        </p:grpSpPr>
        <p:sp>
          <p:nvSpPr>
            <p:cNvPr name="Freeform 3" id="3"/>
            <p:cNvSpPr/>
            <p:nvPr/>
          </p:nvSpPr>
          <p:spPr>
            <a:xfrm flipH="false" flipV="false" rot="0">
              <a:off x="0" y="0"/>
              <a:ext cx="957635" cy="990995"/>
            </a:xfrm>
            <a:custGeom>
              <a:avLst/>
              <a:gdLst/>
              <a:ahLst/>
              <a:cxnLst/>
              <a:rect r="r" b="b" t="t" l="l"/>
              <a:pathLst>
                <a:path h="990995" w="957635">
                  <a:moveTo>
                    <a:pt x="0" y="0"/>
                  </a:moveTo>
                  <a:lnTo>
                    <a:pt x="957635" y="0"/>
                  </a:lnTo>
                  <a:lnTo>
                    <a:pt x="957635" y="990995"/>
                  </a:lnTo>
                  <a:lnTo>
                    <a:pt x="0" y="990995"/>
                  </a:lnTo>
                  <a:close/>
                </a:path>
              </a:pathLst>
            </a:custGeom>
            <a:blipFill>
              <a:blip r:embed="rId2"/>
              <a:stretch>
                <a:fillRect l="0" t="-69" r="0" b="-69"/>
              </a:stretch>
            </a:blipFill>
          </p:spPr>
        </p:sp>
      </p:grpSp>
      <p:sp>
        <p:nvSpPr>
          <p:cNvPr name="TextBox 4" id="4"/>
          <p:cNvSpPr txBox="true"/>
          <p:nvPr/>
        </p:nvSpPr>
        <p:spPr>
          <a:xfrm rot="0">
            <a:off x="666750" y="723900"/>
            <a:ext cx="6886575" cy="2034540"/>
          </a:xfrm>
          <a:prstGeom prst="rect">
            <a:avLst/>
          </a:prstGeom>
        </p:spPr>
        <p:txBody>
          <a:bodyPr anchor="t" rtlCol="false" tIns="0" lIns="0" bIns="0" rIns="0">
            <a:spAutoFit/>
          </a:bodyPr>
          <a:lstStyle/>
          <a:p>
            <a:pPr algn="l" marL="0" indent="0" lvl="0">
              <a:lnSpc>
                <a:spcPts val="7920"/>
              </a:lnSpc>
            </a:pPr>
            <a:r>
              <a:rPr lang="en-US" sz="7200">
                <a:solidFill>
                  <a:srgbClr val="005A87"/>
                </a:solidFill>
                <a:latin typeface="Georgia Pro Condensed Light"/>
                <a:ea typeface="Georgia Pro Condensed Light"/>
                <a:cs typeface="Georgia Pro Condensed Light"/>
                <a:sym typeface="Georgia Pro Condensed Light"/>
              </a:rPr>
              <a:t>Combined System Architecture</a:t>
            </a:r>
          </a:p>
        </p:txBody>
      </p:sp>
      <p:sp>
        <p:nvSpPr>
          <p:cNvPr name="AutoShape 5" id="5"/>
          <p:cNvSpPr/>
          <p:nvPr/>
        </p:nvSpPr>
        <p:spPr>
          <a:xfrm flipV="true">
            <a:off x="666750" y="9625012"/>
            <a:ext cx="5753100" cy="0"/>
          </a:xfrm>
          <a:prstGeom prst="line">
            <a:avLst/>
          </a:prstGeom>
          <a:ln cap="flat" w="9525">
            <a:solidFill>
              <a:srgbClr val="2B2B2B"/>
            </a:solidFill>
            <a:prstDash val="solid"/>
            <a:headEnd type="none" len="sm" w="sm"/>
            <a:tailEnd type="none" len="sm" w="sm"/>
          </a:ln>
        </p:spPr>
      </p:sp>
      <p:sp>
        <p:nvSpPr>
          <p:cNvPr name="TextBox 6" id="6"/>
          <p:cNvSpPr txBox="true"/>
          <p:nvPr/>
        </p:nvSpPr>
        <p:spPr>
          <a:xfrm rot="0">
            <a:off x="666750" y="6501765"/>
            <a:ext cx="6886575" cy="2223135"/>
          </a:xfrm>
          <a:prstGeom prst="rect">
            <a:avLst/>
          </a:prstGeom>
        </p:spPr>
        <p:txBody>
          <a:bodyPr anchor="t" rtlCol="false" tIns="0" lIns="0" bIns="0" rIns="0">
            <a:spAutoFit/>
          </a:bodyPr>
          <a:lstStyle/>
          <a:p>
            <a:pPr algn="l" marL="0" indent="0" lvl="0">
              <a:lnSpc>
                <a:spcPts val="2940"/>
              </a:lnSpc>
            </a:pPr>
            <a:r>
              <a:rPr lang="en-US" sz="2100">
                <a:solidFill>
                  <a:srgbClr val="2B2B2B"/>
                </a:solidFill>
                <a:latin typeface="TT Interphases"/>
                <a:ea typeface="TT Interphases"/>
                <a:cs typeface="TT Interphases"/>
                <a:sym typeface="TT Interphases"/>
              </a:rPr>
              <a:t>This section outlines the </a:t>
            </a:r>
            <a:r>
              <a:rPr lang="en-US" b="true" sz="2100">
                <a:solidFill>
                  <a:srgbClr val="2B2B2B"/>
                </a:solidFill>
                <a:latin typeface="TT Interphases Bold"/>
                <a:ea typeface="TT Interphases Bold"/>
                <a:cs typeface="TT Interphases Bold"/>
                <a:sym typeface="TT Interphases Bold"/>
              </a:rPr>
              <a:t>end-to-end architecture</a:t>
            </a:r>
            <a:r>
              <a:rPr lang="en-US" sz="2100">
                <a:solidFill>
                  <a:srgbClr val="2B2B2B"/>
                </a:solidFill>
                <a:latin typeface="TT Interphases"/>
                <a:ea typeface="TT Interphases"/>
                <a:cs typeface="TT Interphases"/>
                <a:sym typeface="TT Interphases"/>
              </a:rPr>
              <a:t> of the AI/ML Driven 360° Client Intelligence system. It showcases how unified data flows through the layers of machine learning and AI, culminating in a comprehensive client intelligence dashboard while ensuring governance and explainability.</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666750" y="723900"/>
            <a:ext cx="15516225" cy="1034415"/>
          </a:xfrm>
          <a:prstGeom prst="rect">
            <a:avLst/>
          </a:prstGeom>
        </p:spPr>
        <p:txBody>
          <a:bodyPr anchor="t" rtlCol="false" tIns="0" lIns="0" bIns="0" rIns="0">
            <a:spAutoFit/>
          </a:bodyPr>
          <a:lstStyle/>
          <a:p>
            <a:pPr algn="l" marL="0" indent="0" lvl="0">
              <a:lnSpc>
                <a:spcPts val="7920"/>
              </a:lnSpc>
              <a:spcBef>
                <a:spcPct val="0"/>
              </a:spcBef>
            </a:pPr>
            <a:r>
              <a:rPr lang="en-US" sz="7200" strike="noStrike" u="none">
                <a:solidFill>
                  <a:srgbClr val="005A87"/>
                </a:solidFill>
                <a:latin typeface="Georgia Pro Condensed Light"/>
                <a:ea typeface="Georgia Pro Condensed Light"/>
                <a:cs typeface="Georgia Pro Condensed Light"/>
                <a:sym typeface="Georgia Pro Condensed Light"/>
              </a:rPr>
              <a:t>Technical Use Cases Overview</a:t>
            </a:r>
          </a:p>
        </p:txBody>
      </p:sp>
      <p:grpSp>
        <p:nvGrpSpPr>
          <p:cNvPr name="Group 3" id="3"/>
          <p:cNvGrpSpPr/>
          <p:nvPr/>
        </p:nvGrpSpPr>
        <p:grpSpPr>
          <a:xfrm rot="0">
            <a:off x="666750" y="2929425"/>
            <a:ext cx="4314825" cy="3557100"/>
            <a:chOff x="0" y="0"/>
            <a:chExt cx="800847" cy="660210"/>
          </a:xfrm>
        </p:grpSpPr>
        <p:sp>
          <p:nvSpPr>
            <p:cNvPr name="Freeform 4" id="4"/>
            <p:cNvSpPr/>
            <p:nvPr/>
          </p:nvSpPr>
          <p:spPr>
            <a:xfrm flipH="false" flipV="false" rot="0">
              <a:off x="0" y="0"/>
              <a:ext cx="800847" cy="660210"/>
            </a:xfrm>
            <a:custGeom>
              <a:avLst/>
              <a:gdLst/>
              <a:ahLst/>
              <a:cxnLst/>
              <a:rect r="r" b="b" t="t" l="l"/>
              <a:pathLst>
                <a:path h="660210" w="800847">
                  <a:moveTo>
                    <a:pt x="0" y="0"/>
                  </a:moveTo>
                  <a:lnTo>
                    <a:pt x="800847" y="0"/>
                  </a:lnTo>
                  <a:lnTo>
                    <a:pt x="800847" y="660210"/>
                  </a:lnTo>
                  <a:lnTo>
                    <a:pt x="0" y="660210"/>
                  </a:lnTo>
                  <a:close/>
                </a:path>
              </a:pathLst>
            </a:custGeom>
            <a:blipFill>
              <a:blip r:embed="rId2"/>
              <a:stretch>
                <a:fillRect l="-114" t="0" r="-114" b="0"/>
              </a:stretch>
            </a:blipFill>
          </p:spPr>
        </p:sp>
      </p:grpSp>
      <p:grpSp>
        <p:nvGrpSpPr>
          <p:cNvPr name="Group 5" id="5"/>
          <p:cNvGrpSpPr/>
          <p:nvPr/>
        </p:nvGrpSpPr>
        <p:grpSpPr>
          <a:xfrm rot="0">
            <a:off x="666750" y="6953250"/>
            <a:ext cx="4010025" cy="1381125"/>
            <a:chOff x="0" y="0"/>
            <a:chExt cx="5346700" cy="1841500"/>
          </a:xfrm>
        </p:grpSpPr>
        <p:sp>
          <p:nvSpPr>
            <p:cNvPr name="TextBox 6" id="6"/>
            <p:cNvSpPr txBox="true"/>
            <p:nvPr/>
          </p:nvSpPr>
          <p:spPr>
            <a:xfrm rot="0">
              <a:off x="0" y="0"/>
              <a:ext cx="5346700" cy="647700"/>
            </a:xfrm>
            <a:prstGeom prst="rect">
              <a:avLst/>
            </a:prstGeom>
          </p:spPr>
          <p:txBody>
            <a:bodyPr anchor="t" rtlCol="false" tIns="0" lIns="0" bIns="0" rIns="0">
              <a:spAutoFit/>
            </a:bodyPr>
            <a:lstStyle/>
            <a:p>
              <a:pPr algn="l" marL="0" indent="0" lvl="0">
                <a:lnSpc>
                  <a:spcPts val="3840"/>
                </a:lnSpc>
                <a:spcBef>
                  <a:spcPct val="0"/>
                </a:spcBef>
              </a:pPr>
              <a:r>
                <a:rPr lang="en-US" sz="3200">
                  <a:solidFill>
                    <a:srgbClr val="2B2B2B"/>
                  </a:solidFill>
                  <a:latin typeface="Georgia Pro Condensed Light"/>
                  <a:ea typeface="Georgia Pro Condensed Light"/>
                  <a:cs typeface="Georgia Pro Condensed Light"/>
                  <a:sym typeface="Georgia Pro Condensed Light"/>
                </a:rPr>
                <a:t>Credit</a:t>
              </a:r>
            </a:p>
          </p:txBody>
        </p:sp>
        <p:sp>
          <p:nvSpPr>
            <p:cNvPr name="TextBox 7" id="7"/>
            <p:cNvSpPr txBox="true"/>
            <p:nvPr/>
          </p:nvSpPr>
          <p:spPr>
            <a:xfrm rot="0">
              <a:off x="0" y="874395"/>
              <a:ext cx="5346700" cy="967105"/>
            </a:xfrm>
            <a:prstGeom prst="rect">
              <a:avLst/>
            </a:prstGeom>
          </p:spPr>
          <p:txBody>
            <a:bodyPr anchor="t" rtlCol="false" tIns="0" lIns="0" bIns="0" rIns="0">
              <a:spAutoFit/>
            </a:bodyPr>
            <a:lstStyle/>
            <a:p>
              <a:pPr algn="l" marL="0" indent="0" lvl="0">
                <a:lnSpc>
                  <a:spcPts val="2940"/>
                </a:lnSpc>
                <a:spcBef>
                  <a:spcPct val="0"/>
                </a:spcBef>
              </a:pPr>
              <a:r>
                <a:rPr lang="en-US" sz="2100">
                  <a:solidFill>
                    <a:srgbClr val="2B2B2B"/>
                  </a:solidFill>
                  <a:latin typeface="TT Interphases"/>
                  <a:ea typeface="TT Interphases"/>
                  <a:cs typeface="TT Interphases"/>
                  <a:sym typeface="TT Interphases"/>
                </a:rPr>
                <a:t>Evaluating potential credit risk for clients effectively.</a:t>
              </a:r>
            </a:p>
          </p:txBody>
        </p:sp>
      </p:grpSp>
      <p:sp>
        <p:nvSpPr>
          <p:cNvPr name="TextBox 8" id="8"/>
          <p:cNvSpPr txBox="true"/>
          <p:nvPr/>
        </p:nvSpPr>
        <p:spPr>
          <a:xfrm rot="0">
            <a:off x="666750" y="1971648"/>
            <a:ext cx="1438275" cy="485775"/>
          </a:xfrm>
          <a:prstGeom prst="rect">
            <a:avLst/>
          </a:prstGeom>
        </p:spPr>
        <p:txBody>
          <a:bodyPr anchor="t" rtlCol="false" tIns="0" lIns="0" bIns="0" rIns="0">
            <a:spAutoFit/>
          </a:bodyPr>
          <a:lstStyle/>
          <a:p>
            <a:pPr algn="l" marL="0" indent="0" lvl="0">
              <a:lnSpc>
                <a:spcPts val="3840"/>
              </a:lnSpc>
              <a:spcBef>
                <a:spcPct val="0"/>
              </a:spcBef>
            </a:pPr>
            <a:r>
              <a:rPr lang="en-US" sz="3200">
                <a:solidFill>
                  <a:srgbClr val="2B2B2B"/>
                </a:solidFill>
                <a:latin typeface="Georgia Pro Condensed Light"/>
                <a:ea typeface="Georgia Pro Condensed Light"/>
                <a:cs typeface="Georgia Pro Condensed Light"/>
                <a:sym typeface="Georgia Pro Condensed Light"/>
              </a:rPr>
              <a:t>01</a:t>
            </a:r>
          </a:p>
        </p:txBody>
      </p:sp>
      <p:grpSp>
        <p:nvGrpSpPr>
          <p:cNvPr name="Group 9" id="9"/>
          <p:cNvGrpSpPr/>
          <p:nvPr/>
        </p:nvGrpSpPr>
        <p:grpSpPr>
          <a:xfrm rot="0">
            <a:off x="13611225" y="2905125"/>
            <a:ext cx="4676775" cy="3581400"/>
            <a:chOff x="0" y="0"/>
            <a:chExt cx="868026" cy="664720"/>
          </a:xfrm>
        </p:grpSpPr>
        <p:sp>
          <p:nvSpPr>
            <p:cNvPr name="Freeform 10" id="10"/>
            <p:cNvSpPr/>
            <p:nvPr/>
          </p:nvSpPr>
          <p:spPr>
            <a:xfrm flipH="false" flipV="false" rot="0">
              <a:off x="0" y="0"/>
              <a:ext cx="868026" cy="664720"/>
            </a:xfrm>
            <a:custGeom>
              <a:avLst/>
              <a:gdLst/>
              <a:ahLst/>
              <a:cxnLst/>
              <a:rect r="r" b="b" t="t" l="l"/>
              <a:pathLst>
                <a:path h="664720" w="868026">
                  <a:moveTo>
                    <a:pt x="0" y="0"/>
                  </a:moveTo>
                  <a:lnTo>
                    <a:pt x="868026" y="0"/>
                  </a:lnTo>
                  <a:lnTo>
                    <a:pt x="868026" y="664720"/>
                  </a:lnTo>
                  <a:lnTo>
                    <a:pt x="0" y="664720"/>
                  </a:lnTo>
                  <a:close/>
                </a:path>
              </a:pathLst>
            </a:custGeom>
            <a:blipFill>
              <a:blip r:embed="rId3"/>
              <a:stretch>
                <a:fillRect l="-51" t="0" r="-51" b="0"/>
              </a:stretch>
            </a:blipFill>
          </p:spPr>
        </p:sp>
      </p:grpSp>
      <p:grpSp>
        <p:nvGrpSpPr>
          <p:cNvPr name="Group 11" id="11"/>
          <p:cNvGrpSpPr/>
          <p:nvPr/>
        </p:nvGrpSpPr>
        <p:grpSpPr>
          <a:xfrm rot="0">
            <a:off x="13611225" y="6934200"/>
            <a:ext cx="4010025" cy="1381125"/>
            <a:chOff x="0" y="0"/>
            <a:chExt cx="5346700" cy="1841500"/>
          </a:xfrm>
        </p:grpSpPr>
        <p:sp>
          <p:nvSpPr>
            <p:cNvPr name="TextBox 12" id="12"/>
            <p:cNvSpPr txBox="true"/>
            <p:nvPr/>
          </p:nvSpPr>
          <p:spPr>
            <a:xfrm rot="0">
              <a:off x="0" y="0"/>
              <a:ext cx="5346700" cy="647700"/>
            </a:xfrm>
            <a:prstGeom prst="rect">
              <a:avLst/>
            </a:prstGeom>
          </p:spPr>
          <p:txBody>
            <a:bodyPr anchor="t" rtlCol="false" tIns="0" lIns="0" bIns="0" rIns="0">
              <a:spAutoFit/>
            </a:bodyPr>
            <a:lstStyle/>
            <a:p>
              <a:pPr algn="l" marL="0" indent="0" lvl="0">
                <a:lnSpc>
                  <a:spcPts val="3840"/>
                </a:lnSpc>
                <a:spcBef>
                  <a:spcPct val="0"/>
                </a:spcBef>
              </a:pPr>
              <a:r>
                <a:rPr lang="en-US" sz="3200">
                  <a:solidFill>
                    <a:srgbClr val="2B2B2B"/>
                  </a:solidFill>
                  <a:latin typeface="Georgia Pro Condensed Light"/>
                  <a:ea typeface="Georgia Pro Condensed Light"/>
                  <a:cs typeface="Georgia Pro Condensed Light"/>
                  <a:sym typeface="Georgia Pro Condensed Light"/>
                </a:rPr>
                <a:t>Segmentation</a:t>
              </a:r>
            </a:p>
          </p:txBody>
        </p:sp>
        <p:sp>
          <p:nvSpPr>
            <p:cNvPr name="TextBox 13" id="13"/>
            <p:cNvSpPr txBox="true"/>
            <p:nvPr/>
          </p:nvSpPr>
          <p:spPr>
            <a:xfrm rot="0">
              <a:off x="0" y="874395"/>
              <a:ext cx="5346700" cy="967105"/>
            </a:xfrm>
            <a:prstGeom prst="rect">
              <a:avLst/>
            </a:prstGeom>
          </p:spPr>
          <p:txBody>
            <a:bodyPr anchor="t" rtlCol="false" tIns="0" lIns="0" bIns="0" rIns="0">
              <a:spAutoFit/>
            </a:bodyPr>
            <a:lstStyle/>
            <a:p>
              <a:pPr algn="l" marL="0" indent="0" lvl="0">
                <a:lnSpc>
                  <a:spcPts val="2940"/>
                </a:lnSpc>
                <a:spcBef>
                  <a:spcPct val="0"/>
                </a:spcBef>
              </a:pPr>
              <a:r>
                <a:rPr lang="en-US" sz="2100">
                  <a:solidFill>
                    <a:srgbClr val="2B2B2B"/>
                  </a:solidFill>
                  <a:latin typeface="TT Interphases"/>
                  <a:ea typeface="TT Interphases"/>
                  <a:cs typeface="TT Interphases"/>
                  <a:sym typeface="TT Interphases"/>
                </a:rPr>
                <a:t>Classifying clients for tailored financial solutions.</a:t>
              </a:r>
            </a:p>
          </p:txBody>
        </p:sp>
      </p:grpSp>
      <p:sp>
        <p:nvSpPr>
          <p:cNvPr name="TextBox 14" id="14"/>
          <p:cNvSpPr txBox="true"/>
          <p:nvPr/>
        </p:nvSpPr>
        <p:spPr>
          <a:xfrm rot="0">
            <a:off x="13611225" y="1971648"/>
            <a:ext cx="1438275" cy="485775"/>
          </a:xfrm>
          <a:prstGeom prst="rect">
            <a:avLst/>
          </a:prstGeom>
        </p:spPr>
        <p:txBody>
          <a:bodyPr anchor="t" rtlCol="false" tIns="0" lIns="0" bIns="0" rIns="0">
            <a:spAutoFit/>
          </a:bodyPr>
          <a:lstStyle/>
          <a:p>
            <a:pPr algn="l" marL="0" indent="0" lvl="0">
              <a:lnSpc>
                <a:spcPts val="3840"/>
              </a:lnSpc>
              <a:spcBef>
                <a:spcPct val="0"/>
              </a:spcBef>
            </a:pPr>
            <a:r>
              <a:rPr lang="en-US" sz="3200" strike="noStrike" u="none">
                <a:solidFill>
                  <a:srgbClr val="2B2B2B"/>
                </a:solidFill>
                <a:latin typeface="Georgia Pro Condensed Light"/>
                <a:ea typeface="Georgia Pro Condensed Light"/>
                <a:cs typeface="Georgia Pro Condensed Light"/>
                <a:sym typeface="Georgia Pro Condensed Light"/>
              </a:rPr>
              <a:t>03</a:t>
            </a:r>
          </a:p>
        </p:txBody>
      </p:sp>
      <p:grpSp>
        <p:nvGrpSpPr>
          <p:cNvPr name="Group 15" id="15"/>
          <p:cNvGrpSpPr/>
          <p:nvPr/>
        </p:nvGrpSpPr>
        <p:grpSpPr>
          <a:xfrm rot="0">
            <a:off x="7291387" y="4248150"/>
            <a:ext cx="4010025" cy="3581400"/>
            <a:chOff x="0" y="0"/>
            <a:chExt cx="744275" cy="664720"/>
          </a:xfrm>
        </p:grpSpPr>
        <p:sp>
          <p:nvSpPr>
            <p:cNvPr name="Freeform 16" id="16"/>
            <p:cNvSpPr/>
            <p:nvPr/>
          </p:nvSpPr>
          <p:spPr>
            <a:xfrm flipH="false" flipV="false" rot="0">
              <a:off x="0" y="0"/>
              <a:ext cx="744275" cy="664720"/>
            </a:xfrm>
            <a:custGeom>
              <a:avLst/>
              <a:gdLst/>
              <a:ahLst/>
              <a:cxnLst/>
              <a:rect r="r" b="b" t="t" l="l"/>
              <a:pathLst>
                <a:path h="664720" w="744275">
                  <a:moveTo>
                    <a:pt x="0" y="0"/>
                  </a:moveTo>
                  <a:lnTo>
                    <a:pt x="744275" y="0"/>
                  </a:lnTo>
                  <a:lnTo>
                    <a:pt x="744275" y="664720"/>
                  </a:lnTo>
                  <a:lnTo>
                    <a:pt x="0" y="664720"/>
                  </a:lnTo>
                  <a:close/>
                </a:path>
              </a:pathLst>
            </a:custGeom>
            <a:blipFill>
              <a:blip r:embed="rId4"/>
              <a:stretch>
                <a:fillRect l="-104" t="0" r="-104" b="0"/>
              </a:stretch>
            </a:blipFill>
          </p:spPr>
        </p:sp>
      </p:grpSp>
      <p:grpSp>
        <p:nvGrpSpPr>
          <p:cNvPr name="Group 17" id="17"/>
          <p:cNvGrpSpPr/>
          <p:nvPr/>
        </p:nvGrpSpPr>
        <p:grpSpPr>
          <a:xfrm rot="0">
            <a:off x="7291388" y="8239162"/>
            <a:ext cx="4010025" cy="1381125"/>
            <a:chOff x="0" y="0"/>
            <a:chExt cx="5346700" cy="1841500"/>
          </a:xfrm>
        </p:grpSpPr>
        <p:sp>
          <p:nvSpPr>
            <p:cNvPr name="TextBox 18" id="18"/>
            <p:cNvSpPr txBox="true"/>
            <p:nvPr/>
          </p:nvSpPr>
          <p:spPr>
            <a:xfrm rot="0">
              <a:off x="0" y="0"/>
              <a:ext cx="5346700" cy="647700"/>
            </a:xfrm>
            <a:prstGeom prst="rect">
              <a:avLst/>
            </a:prstGeom>
          </p:spPr>
          <p:txBody>
            <a:bodyPr anchor="t" rtlCol="false" tIns="0" lIns="0" bIns="0" rIns="0">
              <a:spAutoFit/>
            </a:bodyPr>
            <a:lstStyle/>
            <a:p>
              <a:pPr algn="l" marL="0" indent="0" lvl="0">
                <a:lnSpc>
                  <a:spcPts val="3840"/>
                </a:lnSpc>
                <a:spcBef>
                  <a:spcPct val="0"/>
                </a:spcBef>
              </a:pPr>
              <a:r>
                <a:rPr lang="en-US" sz="3200" strike="noStrike" u="none">
                  <a:solidFill>
                    <a:srgbClr val="2B2B2B"/>
                  </a:solidFill>
                  <a:latin typeface="Georgia Pro Condensed Light"/>
                  <a:ea typeface="Georgia Pro Condensed Light"/>
                  <a:cs typeface="Georgia Pro Condensed Light"/>
                  <a:sym typeface="Georgia Pro Condensed Light"/>
                </a:rPr>
                <a:t>Anomaly</a:t>
              </a:r>
            </a:p>
          </p:txBody>
        </p:sp>
        <p:sp>
          <p:nvSpPr>
            <p:cNvPr name="TextBox 19" id="19"/>
            <p:cNvSpPr txBox="true"/>
            <p:nvPr/>
          </p:nvSpPr>
          <p:spPr>
            <a:xfrm rot="0">
              <a:off x="0" y="874395"/>
              <a:ext cx="5346700" cy="967105"/>
            </a:xfrm>
            <a:prstGeom prst="rect">
              <a:avLst/>
            </a:prstGeom>
          </p:spPr>
          <p:txBody>
            <a:bodyPr anchor="t" rtlCol="false" tIns="0" lIns="0" bIns="0" rIns="0">
              <a:spAutoFit/>
            </a:bodyPr>
            <a:lstStyle/>
            <a:p>
              <a:pPr algn="l" marL="0" indent="0" lvl="0">
                <a:lnSpc>
                  <a:spcPts val="2940"/>
                </a:lnSpc>
                <a:spcBef>
                  <a:spcPct val="0"/>
                </a:spcBef>
              </a:pPr>
              <a:r>
                <a:rPr lang="en-US" sz="2100" strike="noStrike" u="none">
                  <a:solidFill>
                    <a:srgbClr val="2B2B2B"/>
                  </a:solidFill>
                  <a:latin typeface="TT Interphases"/>
                  <a:ea typeface="TT Interphases"/>
                  <a:cs typeface="TT Interphases"/>
                  <a:sym typeface="TT Interphases"/>
                </a:rPr>
                <a:t>Identifying unusual patterns in financial transactions.</a:t>
              </a:r>
            </a:p>
          </p:txBody>
        </p:sp>
      </p:grpSp>
      <p:sp>
        <p:nvSpPr>
          <p:cNvPr name="TextBox 20" id="20"/>
          <p:cNvSpPr txBox="true"/>
          <p:nvPr/>
        </p:nvSpPr>
        <p:spPr>
          <a:xfrm rot="0">
            <a:off x="7291388" y="3352800"/>
            <a:ext cx="1438275" cy="485775"/>
          </a:xfrm>
          <a:prstGeom prst="rect">
            <a:avLst/>
          </a:prstGeom>
        </p:spPr>
        <p:txBody>
          <a:bodyPr anchor="t" rtlCol="false" tIns="0" lIns="0" bIns="0" rIns="0">
            <a:spAutoFit/>
          </a:bodyPr>
          <a:lstStyle/>
          <a:p>
            <a:pPr algn="l" marL="0" indent="0" lvl="0">
              <a:lnSpc>
                <a:spcPts val="3840"/>
              </a:lnSpc>
              <a:spcBef>
                <a:spcPct val="0"/>
              </a:spcBef>
            </a:pPr>
            <a:r>
              <a:rPr lang="en-US" sz="3200" strike="noStrike" u="none">
                <a:solidFill>
                  <a:srgbClr val="2B2B2B"/>
                </a:solidFill>
                <a:latin typeface="Georgia Pro Condensed Light"/>
                <a:ea typeface="Georgia Pro Condensed Light"/>
                <a:cs typeface="Georgia Pro Condensed Light"/>
                <a:sym typeface="Georgia Pro Condensed Light"/>
              </a:rPr>
              <a:t>02</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991600" y="666750"/>
            <a:ext cx="9296400" cy="9620250"/>
            <a:chOff x="0" y="0"/>
            <a:chExt cx="957635" cy="990995"/>
          </a:xfrm>
        </p:grpSpPr>
        <p:sp>
          <p:nvSpPr>
            <p:cNvPr name="Freeform 3" id="3"/>
            <p:cNvSpPr/>
            <p:nvPr/>
          </p:nvSpPr>
          <p:spPr>
            <a:xfrm flipH="false" flipV="false" rot="0">
              <a:off x="0" y="0"/>
              <a:ext cx="957635" cy="990995"/>
            </a:xfrm>
            <a:custGeom>
              <a:avLst/>
              <a:gdLst/>
              <a:ahLst/>
              <a:cxnLst/>
              <a:rect r="r" b="b" t="t" l="l"/>
              <a:pathLst>
                <a:path h="990995" w="957635">
                  <a:moveTo>
                    <a:pt x="0" y="0"/>
                  </a:moveTo>
                  <a:lnTo>
                    <a:pt x="957635" y="0"/>
                  </a:lnTo>
                  <a:lnTo>
                    <a:pt x="957635" y="990995"/>
                  </a:lnTo>
                  <a:lnTo>
                    <a:pt x="0" y="990995"/>
                  </a:lnTo>
                  <a:close/>
                </a:path>
              </a:pathLst>
            </a:custGeom>
            <a:blipFill>
              <a:blip r:embed="rId2"/>
              <a:stretch>
                <a:fillRect l="0" t="-69" r="0" b="-69"/>
              </a:stretch>
            </a:blipFill>
          </p:spPr>
        </p:sp>
      </p:grpSp>
      <p:sp>
        <p:nvSpPr>
          <p:cNvPr name="TextBox 4" id="4"/>
          <p:cNvSpPr txBox="true"/>
          <p:nvPr/>
        </p:nvSpPr>
        <p:spPr>
          <a:xfrm rot="0">
            <a:off x="666750" y="723900"/>
            <a:ext cx="6886575" cy="1034415"/>
          </a:xfrm>
          <a:prstGeom prst="rect">
            <a:avLst/>
          </a:prstGeom>
        </p:spPr>
        <p:txBody>
          <a:bodyPr anchor="t" rtlCol="false" tIns="0" lIns="0" bIns="0" rIns="0">
            <a:spAutoFit/>
          </a:bodyPr>
          <a:lstStyle/>
          <a:p>
            <a:pPr algn="l" marL="0" indent="0" lvl="0">
              <a:lnSpc>
                <a:spcPts val="7920"/>
              </a:lnSpc>
            </a:pPr>
            <a:r>
              <a:rPr lang="en-US" sz="7200">
                <a:solidFill>
                  <a:srgbClr val="005A87"/>
                </a:solidFill>
                <a:latin typeface="Georgia Pro Condensed Light"/>
                <a:ea typeface="Georgia Pro Condensed Light"/>
                <a:cs typeface="Georgia Pro Condensed Light"/>
                <a:sym typeface="Georgia Pro Condensed Light"/>
              </a:rPr>
              <a:t>Model Governance</a:t>
            </a:r>
          </a:p>
        </p:txBody>
      </p:sp>
      <p:sp>
        <p:nvSpPr>
          <p:cNvPr name="AutoShape 5" id="5"/>
          <p:cNvSpPr/>
          <p:nvPr/>
        </p:nvSpPr>
        <p:spPr>
          <a:xfrm flipV="true">
            <a:off x="666750" y="9625012"/>
            <a:ext cx="5753100" cy="0"/>
          </a:xfrm>
          <a:prstGeom prst="line">
            <a:avLst/>
          </a:prstGeom>
          <a:ln cap="flat" w="9525">
            <a:solidFill>
              <a:srgbClr val="2B2B2B"/>
            </a:solidFill>
            <a:prstDash val="solid"/>
            <a:headEnd type="none" len="sm" w="sm"/>
            <a:tailEnd type="none" len="sm" w="sm"/>
          </a:ln>
        </p:spPr>
      </p:sp>
      <p:sp>
        <p:nvSpPr>
          <p:cNvPr name="TextBox 6" id="6"/>
          <p:cNvSpPr txBox="true"/>
          <p:nvPr/>
        </p:nvSpPr>
        <p:spPr>
          <a:xfrm rot="0">
            <a:off x="666750" y="6501765"/>
            <a:ext cx="6886575" cy="2223135"/>
          </a:xfrm>
          <a:prstGeom prst="rect">
            <a:avLst/>
          </a:prstGeom>
        </p:spPr>
        <p:txBody>
          <a:bodyPr anchor="t" rtlCol="false" tIns="0" lIns="0" bIns="0" rIns="0">
            <a:spAutoFit/>
          </a:bodyPr>
          <a:lstStyle/>
          <a:p>
            <a:pPr algn="l" marL="0" indent="0" lvl="0">
              <a:lnSpc>
                <a:spcPts val="2940"/>
              </a:lnSpc>
            </a:pPr>
            <a:r>
              <a:rPr lang="en-US" sz="2100">
                <a:solidFill>
                  <a:srgbClr val="2B2B2B"/>
                </a:solidFill>
                <a:latin typeface="TT Interphases"/>
                <a:ea typeface="TT Interphases"/>
                <a:cs typeface="TT Interphases"/>
                <a:sym typeface="TT Interphases"/>
              </a:rPr>
              <a:t>Implementing a robust </a:t>
            </a:r>
            <a:r>
              <a:rPr lang="en-US" b="true" sz="2100">
                <a:solidFill>
                  <a:srgbClr val="2B2B2B"/>
                </a:solidFill>
                <a:latin typeface="TT Interphases Bold"/>
                <a:ea typeface="TT Interphases Bold"/>
                <a:cs typeface="TT Interphases Bold"/>
                <a:sym typeface="TT Interphases Bold"/>
              </a:rPr>
              <a:t>governance framework</a:t>
            </a:r>
            <a:r>
              <a:rPr lang="en-US" sz="2100">
                <a:solidFill>
                  <a:srgbClr val="2B2B2B"/>
                </a:solidFill>
                <a:latin typeface="TT Interphases"/>
                <a:ea typeface="TT Interphases"/>
                <a:cs typeface="TT Interphases"/>
                <a:sym typeface="TT Interphases"/>
              </a:rPr>
              <a:t> is crucial for overseeing AI model performance and ensuring compliance. This involves model versioning, creating an audit trail, and incorporating explainability techniques such as SHAP, which reinforces trust and accountability in AI-driven decisions.</a:t>
            </a:r>
          </a:p>
        </p:txBody>
      </p:sp>
    </p:spTree>
  </p:cSld>
  <p:clrMapOvr>
    <a:masterClrMapping/>
  </p:clrMapOvr>
</p:sld>
</file>

<file path=ppt/slides/slide9.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666750" y="733425"/>
            <a:ext cx="5448300" cy="1945005"/>
          </a:xfrm>
          <a:prstGeom prst="rect">
            <a:avLst/>
          </a:prstGeom>
        </p:spPr>
        <p:txBody>
          <a:bodyPr anchor="t" rtlCol="false" tIns="0" lIns="0" bIns="0" rIns="0">
            <a:spAutoFit/>
          </a:bodyPr>
          <a:lstStyle/>
          <a:p>
            <a:pPr algn="l" marL="0" indent="0" lvl="0">
              <a:lnSpc>
                <a:spcPts val="7590"/>
              </a:lnSpc>
              <a:spcBef>
                <a:spcPct val="0"/>
              </a:spcBef>
            </a:pPr>
            <a:r>
              <a:rPr lang="en-US" sz="6900" strike="noStrike" u="none">
                <a:solidFill>
                  <a:srgbClr val="005A87"/>
                </a:solidFill>
                <a:latin typeface="Georgia Pro Condensed Light"/>
                <a:ea typeface="Georgia Pro Condensed Light"/>
                <a:cs typeface="Georgia Pro Condensed Light"/>
                <a:sym typeface="Georgia Pro Condensed Light"/>
              </a:rPr>
              <a:t>Implementation Roadmap</a:t>
            </a:r>
          </a:p>
        </p:txBody>
      </p:sp>
      <p:grpSp>
        <p:nvGrpSpPr>
          <p:cNvPr name="Group 3" id="3"/>
          <p:cNvGrpSpPr/>
          <p:nvPr/>
        </p:nvGrpSpPr>
        <p:grpSpPr>
          <a:xfrm rot="0">
            <a:off x="9144000" y="666750"/>
            <a:ext cx="361950" cy="361950"/>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B2B2B"/>
            </a:solidFill>
          </p:spPr>
        </p:sp>
        <p:sp>
          <p:nvSpPr>
            <p:cNvPr name="TextBox 5" id="5"/>
            <p:cNvSpPr txBox="true"/>
            <p:nvPr/>
          </p:nvSpPr>
          <p:spPr>
            <a:xfrm>
              <a:off x="76200" y="28575"/>
              <a:ext cx="660400" cy="708025"/>
            </a:xfrm>
            <a:prstGeom prst="rect">
              <a:avLst/>
            </a:prstGeom>
          </p:spPr>
          <p:txBody>
            <a:bodyPr anchor="ctr" rtlCol="false" tIns="50800" lIns="50800" bIns="50800" rIns="50800"/>
            <a:lstStyle/>
            <a:p>
              <a:pPr algn="ctr" marL="0" indent="0" lvl="0">
                <a:lnSpc>
                  <a:spcPts val="2800"/>
                </a:lnSpc>
              </a:pPr>
            </a:p>
          </p:txBody>
        </p:sp>
      </p:grpSp>
      <p:grpSp>
        <p:nvGrpSpPr>
          <p:cNvPr name="Group 6" id="6"/>
          <p:cNvGrpSpPr/>
          <p:nvPr/>
        </p:nvGrpSpPr>
        <p:grpSpPr>
          <a:xfrm rot="0">
            <a:off x="10765631" y="666750"/>
            <a:ext cx="5417344" cy="1013433"/>
            <a:chOff x="0" y="0"/>
            <a:chExt cx="7223125" cy="1351244"/>
          </a:xfrm>
        </p:grpSpPr>
        <p:sp>
          <p:nvSpPr>
            <p:cNvPr name="TextBox 7" id="7"/>
            <p:cNvSpPr txBox="true"/>
            <p:nvPr/>
          </p:nvSpPr>
          <p:spPr>
            <a:xfrm rot="0">
              <a:off x="0" y="0"/>
              <a:ext cx="7223125" cy="647700"/>
            </a:xfrm>
            <a:prstGeom prst="rect">
              <a:avLst/>
            </a:prstGeom>
          </p:spPr>
          <p:txBody>
            <a:bodyPr anchor="t" rtlCol="false" tIns="0" lIns="0" bIns="0" rIns="0">
              <a:spAutoFit/>
            </a:bodyPr>
            <a:lstStyle/>
            <a:p>
              <a:pPr algn="l" marL="0" indent="0" lvl="0">
                <a:lnSpc>
                  <a:spcPts val="3840"/>
                </a:lnSpc>
                <a:spcBef>
                  <a:spcPct val="0"/>
                </a:spcBef>
              </a:pPr>
              <a:r>
                <a:rPr lang="en-US" sz="3200">
                  <a:solidFill>
                    <a:srgbClr val="2B2B2B"/>
                  </a:solidFill>
                  <a:latin typeface="Georgia Pro Condensed Light"/>
                  <a:ea typeface="Georgia Pro Condensed Light"/>
                  <a:cs typeface="Georgia Pro Condensed Light"/>
                  <a:sym typeface="Georgia Pro Condensed Light"/>
                </a:rPr>
                <a:t>Integration</a:t>
              </a:r>
            </a:p>
          </p:txBody>
        </p:sp>
        <p:sp>
          <p:nvSpPr>
            <p:cNvPr name="TextBox 8" id="8"/>
            <p:cNvSpPr txBox="true"/>
            <p:nvPr/>
          </p:nvSpPr>
          <p:spPr>
            <a:xfrm rot="0">
              <a:off x="0" y="879439"/>
              <a:ext cx="7223125" cy="471805"/>
            </a:xfrm>
            <a:prstGeom prst="rect">
              <a:avLst/>
            </a:prstGeom>
          </p:spPr>
          <p:txBody>
            <a:bodyPr anchor="t" rtlCol="false" tIns="0" lIns="0" bIns="0" rIns="0">
              <a:spAutoFit/>
            </a:bodyPr>
            <a:lstStyle/>
            <a:p>
              <a:pPr algn="l" marL="0" indent="0" lvl="0">
                <a:lnSpc>
                  <a:spcPts val="2940"/>
                </a:lnSpc>
                <a:spcBef>
                  <a:spcPct val="0"/>
                </a:spcBef>
              </a:pPr>
              <a:r>
                <a:rPr lang="en-US" sz="2100">
                  <a:solidFill>
                    <a:srgbClr val="2B2B2B"/>
                  </a:solidFill>
                  <a:latin typeface="TT Interphases"/>
                  <a:ea typeface="TT Interphases"/>
                  <a:cs typeface="TT Interphases"/>
                  <a:sym typeface="TT Interphases"/>
                </a:rPr>
                <a:t>Begin data integration process.</a:t>
              </a:r>
            </a:p>
          </p:txBody>
        </p:sp>
      </p:grpSp>
      <p:grpSp>
        <p:nvGrpSpPr>
          <p:cNvPr name="Group 9" id="9"/>
          <p:cNvGrpSpPr/>
          <p:nvPr/>
        </p:nvGrpSpPr>
        <p:grpSpPr>
          <a:xfrm rot="0">
            <a:off x="10765631" y="4248467"/>
            <a:ext cx="5417344" cy="1013116"/>
            <a:chOff x="0" y="0"/>
            <a:chExt cx="7223125" cy="1350821"/>
          </a:xfrm>
        </p:grpSpPr>
        <p:sp>
          <p:nvSpPr>
            <p:cNvPr name="TextBox 10" id="10"/>
            <p:cNvSpPr txBox="true"/>
            <p:nvPr/>
          </p:nvSpPr>
          <p:spPr>
            <a:xfrm rot="0">
              <a:off x="0" y="0"/>
              <a:ext cx="7223125" cy="647700"/>
            </a:xfrm>
            <a:prstGeom prst="rect">
              <a:avLst/>
            </a:prstGeom>
          </p:spPr>
          <p:txBody>
            <a:bodyPr anchor="t" rtlCol="false" tIns="0" lIns="0" bIns="0" rIns="0">
              <a:spAutoFit/>
            </a:bodyPr>
            <a:lstStyle/>
            <a:p>
              <a:pPr algn="l" marL="0" indent="0" lvl="0">
                <a:lnSpc>
                  <a:spcPts val="3840"/>
                </a:lnSpc>
                <a:spcBef>
                  <a:spcPct val="0"/>
                </a:spcBef>
              </a:pPr>
              <a:r>
                <a:rPr lang="en-US" sz="3200">
                  <a:solidFill>
                    <a:srgbClr val="2B2B2B"/>
                  </a:solidFill>
                  <a:latin typeface="Georgia Pro Condensed Light"/>
                  <a:ea typeface="Georgia Pro Condensed Light"/>
                  <a:cs typeface="Georgia Pro Condensed Light"/>
                  <a:sym typeface="Georgia Pro Condensed Light"/>
                </a:rPr>
                <a:t>Launch</a:t>
              </a:r>
            </a:p>
          </p:txBody>
        </p:sp>
        <p:sp>
          <p:nvSpPr>
            <p:cNvPr name="TextBox 11" id="11"/>
            <p:cNvSpPr txBox="true"/>
            <p:nvPr/>
          </p:nvSpPr>
          <p:spPr>
            <a:xfrm rot="0">
              <a:off x="0" y="879016"/>
              <a:ext cx="7223125" cy="471805"/>
            </a:xfrm>
            <a:prstGeom prst="rect">
              <a:avLst/>
            </a:prstGeom>
          </p:spPr>
          <p:txBody>
            <a:bodyPr anchor="t" rtlCol="false" tIns="0" lIns="0" bIns="0" rIns="0">
              <a:spAutoFit/>
            </a:bodyPr>
            <a:lstStyle/>
            <a:p>
              <a:pPr algn="l" marL="0" indent="0" lvl="0">
                <a:lnSpc>
                  <a:spcPts val="2940"/>
                </a:lnSpc>
                <a:spcBef>
                  <a:spcPct val="0"/>
                </a:spcBef>
              </a:pPr>
              <a:r>
                <a:rPr lang="en-US" sz="2100">
                  <a:solidFill>
                    <a:srgbClr val="2B2B2B"/>
                  </a:solidFill>
                  <a:latin typeface="TT Interphases"/>
                  <a:ea typeface="TT Interphases"/>
                  <a:cs typeface="TT Interphases"/>
                  <a:sym typeface="TT Interphases"/>
                </a:rPr>
                <a:t>Initiate LLM integration phase.</a:t>
              </a:r>
            </a:p>
          </p:txBody>
        </p:sp>
      </p:grpSp>
      <p:grpSp>
        <p:nvGrpSpPr>
          <p:cNvPr name="Group 12" id="12"/>
          <p:cNvGrpSpPr/>
          <p:nvPr/>
        </p:nvGrpSpPr>
        <p:grpSpPr>
          <a:xfrm rot="0">
            <a:off x="9144000" y="2457450"/>
            <a:ext cx="361950" cy="361950"/>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B2B2B"/>
            </a:solidFill>
          </p:spPr>
        </p:sp>
        <p:sp>
          <p:nvSpPr>
            <p:cNvPr name="TextBox 14" id="14"/>
            <p:cNvSpPr txBox="true"/>
            <p:nvPr/>
          </p:nvSpPr>
          <p:spPr>
            <a:xfrm>
              <a:off x="76200" y="28575"/>
              <a:ext cx="660400" cy="708025"/>
            </a:xfrm>
            <a:prstGeom prst="rect">
              <a:avLst/>
            </a:prstGeom>
          </p:spPr>
          <p:txBody>
            <a:bodyPr anchor="ctr" rtlCol="false" tIns="50800" lIns="50800" bIns="50800" rIns="50800"/>
            <a:lstStyle/>
            <a:p>
              <a:pPr algn="ctr" marL="0" indent="0" lvl="0">
                <a:lnSpc>
                  <a:spcPts val="2800"/>
                </a:lnSpc>
              </a:pPr>
            </a:p>
          </p:txBody>
        </p:sp>
      </p:grpSp>
      <p:grpSp>
        <p:nvGrpSpPr>
          <p:cNvPr name="Group 15" id="15"/>
          <p:cNvGrpSpPr/>
          <p:nvPr/>
        </p:nvGrpSpPr>
        <p:grpSpPr>
          <a:xfrm rot="0">
            <a:off x="9144000" y="4248467"/>
            <a:ext cx="361950" cy="361950"/>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B2B2B"/>
            </a:solidFill>
          </p:spPr>
        </p:sp>
        <p:sp>
          <p:nvSpPr>
            <p:cNvPr name="TextBox 17" id="17"/>
            <p:cNvSpPr txBox="true"/>
            <p:nvPr/>
          </p:nvSpPr>
          <p:spPr>
            <a:xfrm>
              <a:off x="76200" y="28575"/>
              <a:ext cx="660400" cy="708025"/>
            </a:xfrm>
            <a:prstGeom prst="rect">
              <a:avLst/>
            </a:prstGeom>
          </p:spPr>
          <p:txBody>
            <a:bodyPr anchor="ctr" rtlCol="false" tIns="50800" lIns="50800" bIns="50800" rIns="50800"/>
            <a:lstStyle/>
            <a:p>
              <a:pPr algn="ctr" marL="0" indent="0" lvl="0">
                <a:lnSpc>
                  <a:spcPts val="2800"/>
                </a:lnSpc>
              </a:pPr>
            </a:p>
          </p:txBody>
        </p:sp>
      </p:grpSp>
      <p:grpSp>
        <p:nvGrpSpPr>
          <p:cNvPr name="Group 18" id="18"/>
          <p:cNvGrpSpPr/>
          <p:nvPr/>
        </p:nvGrpSpPr>
        <p:grpSpPr>
          <a:xfrm rot="0">
            <a:off x="10765631" y="2457450"/>
            <a:ext cx="5417344" cy="1013433"/>
            <a:chOff x="0" y="0"/>
            <a:chExt cx="7223125" cy="1351244"/>
          </a:xfrm>
        </p:grpSpPr>
        <p:sp>
          <p:nvSpPr>
            <p:cNvPr name="TextBox 19" id="19"/>
            <p:cNvSpPr txBox="true"/>
            <p:nvPr/>
          </p:nvSpPr>
          <p:spPr>
            <a:xfrm rot="0">
              <a:off x="0" y="0"/>
              <a:ext cx="7223125" cy="647700"/>
            </a:xfrm>
            <a:prstGeom prst="rect">
              <a:avLst/>
            </a:prstGeom>
          </p:spPr>
          <p:txBody>
            <a:bodyPr anchor="t" rtlCol="false" tIns="0" lIns="0" bIns="0" rIns="0">
              <a:spAutoFit/>
            </a:bodyPr>
            <a:lstStyle/>
            <a:p>
              <a:pPr algn="l" marL="0" indent="0" lvl="0">
                <a:lnSpc>
                  <a:spcPts val="3840"/>
                </a:lnSpc>
                <a:spcBef>
                  <a:spcPct val="0"/>
                </a:spcBef>
              </a:pPr>
              <a:r>
                <a:rPr lang="en-US" sz="3200">
                  <a:solidFill>
                    <a:srgbClr val="2B2B2B"/>
                  </a:solidFill>
                  <a:latin typeface="Georgia Pro Condensed Light"/>
                  <a:ea typeface="Georgia Pro Condensed Light"/>
                  <a:cs typeface="Georgia Pro Condensed Light"/>
                  <a:sym typeface="Georgia Pro Condensed Light"/>
                </a:rPr>
                <a:t>Pipeline</a:t>
              </a:r>
            </a:p>
          </p:txBody>
        </p:sp>
        <p:sp>
          <p:nvSpPr>
            <p:cNvPr name="TextBox 20" id="20"/>
            <p:cNvSpPr txBox="true"/>
            <p:nvPr/>
          </p:nvSpPr>
          <p:spPr>
            <a:xfrm rot="0">
              <a:off x="0" y="879439"/>
              <a:ext cx="7223125" cy="471805"/>
            </a:xfrm>
            <a:prstGeom prst="rect">
              <a:avLst/>
            </a:prstGeom>
          </p:spPr>
          <p:txBody>
            <a:bodyPr anchor="t" rtlCol="false" tIns="0" lIns="0" bIns="0" rIns="0">
              <a:spAutoFit/>
            </a:bodyPr>
            <a:lstStyle/>
            <a:p>
              <a:pPr algn="l" marL="0" indent="0" lvl="0">
                <a:lnSpc>
                  <a:spcPts val="2940"/>
                </a:lnSpc>
                <a:spcBef>
                  <a:spcPct val="0"/>
                </a:spcBef>
              </a:pPr>
              <a:r>
                <a:rPr lang="en-US" sz="2100">
                  <a:solidFill>
                    <a:srgbClr val="2B2B2B"/>
                  </a:solidFill>
                  <a:latin typeface="TT Interphases"/>
                  <a:ea typeface="TT Interphases"/>
                  <a:cs typeface="TT Interphases"/>
                  <a:sym typeface="TT Interphases"/>
                </a:rPr>
                <a:t>Develop ML pipeline framework.</a:t>
              </a:r>
            </a:p>
          </p:txBody>
        </p:sp>
      </p:grpSp>
      <p:sp>
        <p:nvSpPr>
          <p:cNvPr name="AutoShape 21" id="21"/>
          <p:cNvSpPr/>
          <p:nvPr/>
        </p:nvSpPr>
        <p:spPr>
          <a:xfrm flipV="true">
            <a:off x="9324975" y="0"/>
            <a:ext cx="0" cy="10287000"/>
          </a:xfrm>
          <a:prstGeom prst="line">
            <a:avLst/>
          </a:prstGeom>
          <a:ln cap="flat" w="19050">
            <a:solidFill>
              <a:srgbClr val="2B2B2B"/>
            </a:solidFill>
            <a:prstDash val="solid"/>
            <a:headEnd type="none" len="sm" w="sm"/>
            <a:tailEnd type="none" len="sm" w="sm"/>
          </a:ln>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991600" y="666750"/>
            <a:ext cx="9296400" cy="9620250"/>
            <a:chOff x="0" y="0"/>
            <a:chExt cx="957635" cy="990995"/>
          </a:xfrm>
        </p:grpSpPr>
        <p:sp>
          <p:nvSpPr>
            <p:cNvPr name="Freeform 3" id="3"/>
            <p:cNvSpPr/>
            <p:nvPr/>
          </p:nvSpPr>
          <p:spPr>
            <a:xfrm flipH="false" flipV="false" rot="0">
              <a:off x="0" y="0"/>
              <a:ext cx="957635" cy="990995"/>
            </a:xfrm>
            <a:custGeom>
              <a:avLst/>
              <a:gdLst/>
              <a:ahLst/>
              <a:cxnLst/>
              <a:rect r="r" b="b" t="t" l="l"/>
              <a:pathLst>
                <a:path h="990995" w="957635">
                  <a:moveTo>
                    <a:pt x="0" y="0"/>
                  </a:moveTo>
                  <a:lnTo>
                    <a:pt x="957635" y="0"/>
                  </a:lnTo>
                  <a:lnTo>
                    <a:pt x="957635" y="990995"/>
                  </a:lnTo>
                  <a:lnTo>
                    <a:pt x="0" y="990995"/>
                  </a:lnTo>
                  <a:close/>
                </a:path>
              </a:pathLst>
            </a:custGeom>
            <a:blipFill>
              <a:blip r:embed="rId2"/>
              <a:stretch>
                <a:fillRect l="0" t="-69" r="0" b="-69"/>
              </a:stretch>
            </a:blipFill>
          </p:spPr>
        </p:sp>
      </p:grpSp>
      <p:sp>
        <p:nvSpPr>
          <p:cNvPr name="TextBox 4" id="4"/>
          <p:cNvSpPr txBox="true"/>
          <p:nvPr/>
        </p:nvSpPr>
        <p:spPr>
          <a:xfrm rot="0">
            <a:off x="666750" y="723900"/>
            <a:ext cx="6886575" cy="2034540"/>
          </a:xfrm>
          <a:prstGeom prst="rect">
            <a:avLst/>
          </a:prstGeom>
        </p:spPr>
        <p:txBody>
          <a:bodyPr anchor="t" rtlCol="false" tIns="0" lIns="0" bIns="0" rIns="0">
            <a:spAutoFit/>
          </a:bodyPr>
          <a:lstStyle/>
          <a:p>
            <a:pPr algn="l" marL="0" indent="0" lvl="0">
              <a:lnSpc>
                <a:spcPts val="7920"/>
              </a:lnSpc>
            </a:pPr>
            <a:r>
              <a:rPr lang="en-US" sz="7200">
                <a:solidFill>
                  <a:srgbClr val="005A87"/>
                </a:solidFill>
                <a:latin typeface="Georgia Pro Condensed Light"/>
                <a:ea typeface="Georgia Pro Condensed Light"/>
                <a:cs typeface="Georgia Pro Condensed Light"/>
                <a:sym typeface="Georgia Pro Condensed Light"/>
              </a:rPr>
              <a:t>Technical Summary</a:t>
            </a:r>
          </a:p>
        </p:txBody>
      </p:sp>
      <p:sp>
        <p:nvSpPr>
          <p:cNvPr name="AutoShape 5" id="5"/>
          <p:cNvSpPr/>
          <p:nvPr/>
        </p:nvSpPr>
        <p:spPr>
          <a:xfrm flipV="true">
            <a:off x="666750" y="9625012"/>
            <a:ext cx="5753100" cy="0"/>
          </a:xfrm>
          <a:prstGeom prst="line">
            <a:avLst/>
          </a:prstGeom>
          <a:ln cap="flat" w="9525">
            <a:solidFill>
              <a:srgbClr val="2B2B2B"/>
            </a:solidFill>
            <a:prstDash val="solid"/>
            <a:headEnd type="none" len="sm" w="sm"/>
            <a:tailEnd type="none" len="sm" w="sm"/>
          </a:ln>
        </p:spPr>
      </p:sp>
      <p:sp>
        <p:nvSpPr>
          <p:cNvPr name="TextBox 6" id="6"/>
          <p:cNvSpPr txBox="true"/>
          <p:nvPr/>
        </p:nvSpPr>
        <p:spPr>
          <a:xfrm rot="0">
            <a:off x="666750" y="6873240"/>
            <a:ext cx="6886575" cy="1851660"/>
          </a:xfrm>
          <a:prstGeom prst="rect">
            <a:avLst/>
          </a:prstGeom>
        </p:spPr>
        <p:txBody>
          <a:bodyPr anchor="t" rtlCol="false" tIns="0" lIns="0" bIns="0" rIns="0">
            <a:spAutoFit/>
          </a:bodyPr>
          <a:lstStyle/>
          <a:p>
            <a:pPr algn="l" marL="0" indent="0" lvl="0">
              <a:lnSpc>
                <a:spcPts val="2940"/>
              </a:lnSpc>
            </a:pPr>
            <a:r>
              <a:rPr lang="en-US" sz="2100">
                <a:solidFill>
                  <a:srgbClr val="2B2B2B"/>
                </a:solidFill>
                <a:latin typeface="TT Interphases"/>
                <a:ea typeface="TT Interphases"/>
                <a:cs typeface="TT Interphases"/>
                <a:sym typeface="TT Interphases"/>
              </a:rPr>
              <a:t>This slide encapsulates the </a:t>
            </a:r>
            <a:r>
              <a:rPr lang="en-US" b="true" sz="2100">
                <a:solidFill>
                  <a:srgbClr val="2B2B2B"/>
                </a:solidFill>
                <a:latin typeface="TT Interphases Bold"/>
                <a:ea typeface="TT Interphases Bold"/>
                <a:cs typeface="TT Interphases Bold"/>
                <a:sym typeface="TT Interphases Bold"/>
              </a:rPr>
              <a:t>synergy of our unified AI/ML architecture</a:t>
            </a:r>
            <a:r>
              <a:rPr lang="en-US" sz="2100">
                <a:solidFill>
                  <a:srgbClr val="2B2B2B"/>
                </a:solidFill>
                <a:latin typeface="TT Interphases"/>
                <a:ea typeface="TT Interphases"/>
                <a:cs typeface="TT Interphases"/>
                <a:sym typeface="TT Interphases"/>
              </a:rPr>
              <a:t>, highlighting the significance of explainable AI and continuous learning. It emphasizes how our integrated approach ensures effective client intelligence and robust decision-making for Standard Chartered Bank.</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666750" y="8277738"/>
            <a:ext cx="16954500" cy="0"/>
          </a:xfrm>
          <a:prstGeom prst="line">
            <a:avLst/>
          </a:prstGeom>
          <a:ln cap="flat" w="19050">
            <a:solidFill>
              <a:srgbClr val="2B2B2B"/>
            </a:solidFill>
            <a:prstDash val="solid"/>
            <a:headEnd type="none" len="sm" w="sm"/>
            <a:tailEnd type="none" len="sm" w="sm"/>
          </a:ln>
        </p:spPr>
      </p:sp>
      <p:grpSp>
        <p:nvGrpSpPr>
          <p:cNvPr name="Group 3" id="3"/>
          <p:cNvGrpSpPr/>
          <p:nvPr/>
        </p:nvGrpSpPr>
        <p:grpSpPr>
          <a:xfrm rot="0">
            <a:off x="6419850" y="0"/>
            <a:ext cx="11868150" cy="6034088"/>
            <a:chOff x="0" y="0"/>
            <a:chExt cx="1598656" cy="812800"/>
          </a:xfrm>
        </p:grpSpPr>
        <p:sp>
          <p:nvSpPr>
            <p:cNvPr name="Freeform 4" id="4"/>
            <p:cNvSpPr/>
            <p:nvPr/>
          </p:nvSpPr>
          <p:spPr>
            <a:xfrm flipH="false" flipV="false" rot="0">
              <a:off x="0" y="0"/>
              <a:ext cx="1598656" cy="812800"/>
            </a:xfrm>
            <a:custGeom>
              <a:avLst/>
              <a:gdLst/>
              <a:ahLst/>
              <a:cxnLst/>
              <a:rect r="r" b="b" t="t" l="l"/>
              <a:pathLst>
                <a:path h="812800" w="1598656">
                  <a:moveTo>
                    <a:pt x="0" y="0"/>
                  </a:moveTo>
                  <a:lnTo>
                    <a:pt x="1598656" y="0"/>
                  </a:lnTo>
                  <a:lnTo>
                    <a:pt x="1598656" y="812800"/>
                  </a:lnTo>
                  <a:lnTo>
                    <a:pt x="0" y="812800"/>
                  </a:lnTo>
                  <a:close/>
                </a:path>
              </a:pathLst>
            </a:custGeom>
            <a:blipFill>
              <a:blip r:embed="rId2"/>
              <a:stretch>
                <a:fillRect l="-91" t="0" r="-91" b="0"/>
              </a:stretch>
            </a:blipFill>
          </p:spPr>
        </p:sp>
      </p:grpSp>
      <p:grpSp>
        <p:nvGrpSpPr>
          <p:cNvPr name="Group 5" id="5"/>
          <p:cNvGrpSpPr/>
          <p:nvPr/>
        </p:nvGrpSpPr>
        <p:grpSpPr>
          <a:xfrm rot="0">
            <a:off x="666750" y="8708464"/>
            <a:ext cx="5448300" cy="893445"/>
            <a:chOff x="0" y="0"/>
            <a:chExt cx="7264400" cy="1191260"/>
          </a:xfrm>
        </p:grpSpPr>
        <p:sp>
          <p:nvSpPr>
            <p:cNvPr name="TextBox 6" id="6"/>
            <p:cNvSpPr txBox="true"/>
            <p:nvPr/>
          </p:nvSpPr>
          <p:spPr>
            <a:xfrm rot="0">
              <a:off x="0" y="-47625"/>
              <a:ext cx="7264400" cy="471805"/>
            </a:xfrm>
            <a:prstGeom prst="rect">
              <a:avLst/>
            </a:prstGeom>
          </p:spPr>
          <p:txBody>
            <a:bodyPr anchor="t" rtlCol="false" tIns="0" lIns="0" bIns="0" rIns="0">
              <a:spAutoFit/>
            </a:bodyPr>
            <a:lstStyle/>
            <a:p>
              <a:pPr algn="l" marL="0" indent="0" lvl="0">
                <a:lnSpc>
                  <a:spcPts val="2940"/>
                </a:lnSpc>
              </a:pPr>
              <a:r>
                <a:rPr lang="en-US" sz="2100" u="none">
                  <a:solidFill>
                    <a:srgbClr val="2B2B2B"/>
                  </a:solidFill>
                  <a:latin typeface="TT Interphases"/>
                  <a:ea typeface="TT Interphases"/>
                  <a:cs typeface="TT Interphases"/>
                  <a:sym typeface="TT Interphases"/>
                </a:rPr>
                <a:t>EMAIL</a:t>
              </a:r>
            </a:p>
          </p:txBody>
        </p:sp>
        <p:sp>
          <p:nvSpPr>
            <p:cNvPr name="TextBox 7" id="7"/>
            <p:cNvSpPr txBox="true"/>
            <p:nvPr/>
          </p:nvSpPr>
          <p:spPr>
            <a:xfrm rot="0">
              <a:off x="0" y="493184"/>
              <a:ext cx="7264400" cy="698077"/>
            </a:xfrm>
            <a:prstGeom prst="rect">
              <a:avLst/>
            </a:prstGeom>
          </p:spPr>
          <p:txBody>
            <a:bodyPr anchor="t" rtlCol="false" tIns="0" lIns="0" bIns="0" rIns="0">
              <a:spAutoFit/>
            </a:bodyPr>
            <a:lstStyle/>
            <a:p>
              <a:pPr algn="l" marL="0" indent="0" lvl="0">
                <a:lnSpc>
                  <a:spcPts val="4480"/>
                </a:lnSpc>
                <a:spcBef>
                  <a:spcPct val="0"/>
                </a:spcBef>
              </a:pPr>
              <a:r>
                <a:rPr lang="en-US" sz="3200" u="none">
                  <a:solidFill>
                    <a:srgbClr val="2B2B2B"/>
                  </a:solidFill>
                  <a:latin typeface="Georgia Pro Condensed Light"/>
                  <a:ea typeface="Georgia Pro Condensed Light"/>
                  <a:cs typeface="Georgia Pro Condensed Light"/>
                  <a:sym typeface="Georgia Pro Condensed Light"/>
                </a:rPr>
                <a:t>hello@reallygreatsite.com</a:t>
              </a:r>
            </a:p>
          </p:txBody>
        </p:sp>
      </p:grpSp>
      <p:grpSp>
        <p:nvGrpSpPr>
          <p:cNvPr name="Group 8" id="8"/>
          <p:cNvGrpSpPr/>
          <p:nvPr/>
        </p:nvGrpSpPr>
        <p:grpSpPr>
          <a:xfrm rot="0">
            <a:off x="6419850" y="8724900"/>
            <a:ext cx="4010025" cy="893445"/>
            <a:chOff x="0" y="0"/>
            <a:chExt cx="5346700" cy="1191260"/>
          </a:xfrm>
        </p:grpSpPr>
        <p:sp>
          <p:nvSpPr>
            <p:cNvPr name="TextBox 9" id="9"/>
            <p:cNvSpPr txBox="true"/>
            <p:nvPr/>
          </p:nvSpPr>
          <p:spPr>
            <a:xfrm rot="0">
              <a:off x="0" y="-47625"/>
              <a:ext cx="5346700" cy="471805"/>
            </a:xfrm>
            <a:prstGeom prst="rect">
              <a:avLst/>
            </a:prstGeom>
          </p:spPr>
          <p:txBody>
            <a:bodyPr anchor="t" rtlCol="false" tIns="0" lIns="0" bIns="0" rIns="0">
              <a:spAutoFit/>
            </a:bodyPr>
            <a:lstStyle/>
            <a:p>
              <a:pPr algn="l" marL="0" indent="0" lvl="0">
                <a:lnSpc>
                  <a:spcPts val="2940"/>
                </a:lnSpc>
                <a:spcBef>
                  <a:spcPct val="0"/>
                </a:spcBef>
              </a:pPr>
              <a:r>
                <a:rPr lang="en-US" sz="2100" strike="noStrike" u="none">
                  <a:solidFill>
                    <a:srgbClr val="2B2B2B"/>
                  </a:solidFill>
                  <a:latin typeface="TT Interphases"/>
                  <a:ea typeface="TT Interphases"/>
                  <a:cs typeface="TT Interphases"/>
                  <a:sym typeface="TT Interphases"/>
                </a:rPr>
                <a:t>SOCIAL MEDIA</a:t>
              </a:r>
            </a:p>
          </p:txBody>
        </p:sp>
        <p:sp>
          <p:nvSpPr>
            <p:cNvPr name="TextBox 10" id="10"/>
            <p:cNvSpPr txBox="true"/>
            <p:nvPr/>
          </p:nvSpPr>
          <p:spPr>
            <a:xfrm rot="0">
              <a:off x="0" y="493184"/>
              <a:ext cx="5346700" cy="698077"/>
            </a:xfrm>
            <a:prstGeom prst="rect">
              <a:avLst/>
            </a:prstGeom>
          </p:spPr>
          <p:txBody>
            <a:bodyPr anchor="t" rtlCol="false" tIns="0" lIns="0" bIns="0" rIns="0">
              <a:spAutoFit/>
            </a:bodyPr>
            <a:lstStyle/>
            <a:p>
              <a:pPr algn="l" marL="0" indent="0" lvl="0">
                <a:lnSpc>
                  <a:spcPts val="4480"/>
                </a:lnSpc>
                <a:spcBef>
                  <a:spcPct val="0"/>
                </a:spcBef>
              </a:pPr>
              <a:r>
                <a:rPr lang="en-US" sz="3200">
                  <a:solidFill>
                    <a:srgbClr val="2B2B2B"/>
                  </a:solidFill>
                  <a:latin typeface="Georgia Pro Condensed Light"/>
                  <a:ea typeface="Georgia Pro Condensed Light"/>
                  <a:cs typeface="Georgia Pro Condensed Light"/>
                  <a:sym typeface="Georgia Pro Condensed Light"/>
                </a:rPr>
                <a:t>@reallygreatsite</a:t>
              </a:r>
            </a:p>
          </p:txBody>
        </p:sp>
      </p:grpSp>
      <p:sp>
        <p:nvSpPr>
          <p:cNvPr name="TextBox 11" id="11"/>
          <p:cNvSpPr txBox="true"/>
          <p:nvPr/>
        </p:nvSpPr>
        <p:spPr>
          <a:xfrm rot="0">
            <a:off x="10734675" y="8677275"/>
            <a:ext cx="4010025" cy="365760"/>
          </a:xfrm>
          <a:prstGeom prst="rect">
            <a:avLst/>
          </a:prstGeom>
        </p:spPr>
        <p:txBody>
          <a:bodyPr anchor="t" rtlCol="false" tIns="0" lIns="0" bIns="0" rIns="0">
            <a:spAutoFit/>
          </a:bodyPr>
          <a:lstStyle/>
          <a:p>
            <a:pPr algn="l" marL="0" indent="0" lvl="0">
              <a:lnSpc>
                <a:spcPts val="2940"/>
              </a:lnSpc>
              <a:spcBef>
                <a:spcPct val="0"/>
              </a:spcBef>
            </a:pPr>
            <a:r>
              <a:rPr lang="en-US" sz="2100" strike="noStrike" u="none">
                <a:solidFill>
                  <a:srgbClr val="2B2B2B"/>
                </a:solidFill>
                <a:latin typeface="TT Interphases"/>
                <a:ea typeface="TT Interphases"/>
                <a:cs typeface="TT Interphases"/>
                <a:sym typeface="TT Interphases"/>
              </a:rPr>
              <a:t>PHONE</a:t>
            </a:r>
          </a:p>
        </p:txBody>
      </p:sp>
      <p:sp>
        <p:nvSpPr>
          <p:cNvPr name="TextBox 12" id="12"/>
          <p:cNvSpPr txBox="true"/>
          <p:nvPr/>
        </p:nvSpPr>
        <p:spPr>
          <a:xfrm rot="0">
            <a:off x="10734675" y="9082405"/>
            <a:ext cx="4010025" cy="537845"/>
          </a:xfrm>
          <a:prstGeom prst="rect">
            <a:avLst/>
          </a:prstGeom>
        </p:spPr>
        <p:txBody>
          <a:bodyPr anchor="t" rtlCol="false" tIns="0" lIns="0" bIns="0" rIns="0">
            <a:spAutoFit/>
          </a:bodyPr>
          <a:lstStyle/>
          <a:p>
            <a:pPr algn="l" marL="0" indent="0" lvl="0">
              <a:lnSpc>
                <a:spcPts val="4480"/>
              </a:lnSpc>
              <a:spcBef>
                <a:spcPct val="0"/>
              </a:spcBef>
            </a:pPr>
            <a:r>
              <a:rPr lang="en-US" sz="3200">
                <a:solidFill>
                  <a:srgbClr val="2B2B2B"/>
                </a:solidFill>
                <a:latin typeface="Georgia Pro Condensed Light"/>
                <a:ea typeface="Georgia Pro Condensed Light"/>
                <a:cs typeface="Georgia Pro Condensed Light"/>
                <a:sym typeface="Georgia Pro Condensed Light"/>
              </a:rPr>
              <a:t>123-456-7890</a:t>
            </a:r>
          </a:p>
        </p:txBody>
      </p:sp>
      <p:sp>
        <p:nvSpPr>
          <p:cNvPr name="TextBox 13" id="13"/>
          <p:cNvSpPr txBox="true"/>
          <p:nvPr/>
        </p:nvSpPr>
        <p:spPr>
          <a:xfrm rot="0">
            <a:off x="666750" y="6924675"/>
            <a:ext cx="16954500" cy="1085850"/>
          </a:xfrm>
          <a:prstGeom prst="rect">
            <a:avLst/>
          </a:prstGeom>
        </p:spPr>
        <p:txBody>
          <a:bodyPr anchor="t" rtlCol="false" tIns="0" lIns="0" bIns="0" rIns="0">
            <a:spAutoFit/>
          </a:bodyPr>
          <a:lstStyle/>
          <a:p>
            <a:pPr algn="l" marL="0" indent="0" lvl="0">
              <a:lnSpc>
                <a:spcPts val="8532"/>
              </a:lnSpc>
            </a:pPr>
            <a:r>
              <a:rPr lang="en-US" sz="7109">
                <a:solidFill>
                  <a:srgbClr val="005A87"/>
                </a:solidFill>
                <a:latin typeface="Georgia Pro Condensed Light"/>
                <a:ea typeface="Georgia Pro Condensed Light"/>
                <a:cs typeface="Georgia Pro Condensed Light"/>
                <a:sym typeface="Georgia Pro Condensed Light"/>
              </a:rPr>
              <a:t>Let's Connect and Collaborate!</a:t>
            </a:r>
          </a:p>
        </p:txBody>
      </p:sp>
      <p:sp>
        <p:nvSpPr>
          <p:cNvPr name="Freeform 14" id="14"/>
          <p:cNvSpPr/>
          <p:nvPr/>
        </p:nvSpPr>
        <p:spPr>
          <a:xfrm flipH="false" flipV="false" rot="0">
            <a:off x="666750" y="666750"/>
            <a:ext cx="2686050" cy="2686050"/>
          </a:xfrm>
          <a:custGeom>
            <a:avLst/>
            <a:gdLst/>
            <a:ahLst/>
            <a:cxnLst/>
            <a:rect r="r" b="b" t="t" l="l"/>
            <a:pathLst>
              <a:path h="2686050" w="2686050">
                <a:moveTo>
                  <a:pt x="0" y="0"/>
                </a:moveTo>
                <a:lnTo>
                  <a:pt x="2686050" y="0"/>
                </a:lnTo>
                <a:lnTo>
                  <a:pt x="2686050" y="2686050"/>
                </a:lnTo>
                <a:lnTo>
                  <a:pt x="0" y="268605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description>Presentation - AI/ML Driven 360° Client Intelligence</dc:description>
  <dc:identifier>DAG4AiA8Lvg</dc:identifier>
  <dcterms:modified xsi:type="dcterms:W3CDTF">2011-08-01T06:04:30Z</dcterms:modified>
  <cp:revision>1</cp:revision>
  <dc:title>Presentation - AI/ML Driven 360° Client Intelligence</dc:title>
</cp:coreProperties>
</file>